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1704" r:id="rId2"/>
    <p:sldId id="1700" r:id="rId3"/>
    <p:sldId id="1703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AFAF"/>
    <a:srgbClr val="FFE7E7"/>
    <a:srgbClr val="DCE5F4"/>
    <a:srgbClr val="DFA55F"/>
    <a:srgbClr val="FFC5C5"/>
    <a:srgbClr val="A5BBE3"/>
    <a:srgbClr val="8D5D6A"/>
    <a:srgbClr val="CC0099"/>
    <a:srgbClr val="57AE16"/>
    <a:srgbClr val="CDB2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0535" autoAdjust="0"/>
  </p:normalViewPr>
  <p:slideViewPr>
    <p:cSldViewPr snapToGrid="0">
      <p:cViewPr varScale="1">
        <p:scale>
          <a:sx n="80" d="100"/>
          <a:sy n="80" d="100"/>
        </p:scale>
        <p:origin x="58" y="202"/>
      </p:cViewPr>
      <p:guideLst/>
    </p:cSldViewPr>
  </p:slideViewPr>
  <p:outlineViewPr>
    <p:cViewPr>
      <p:scale>
        <a:sx n="33" d="100"/>
        <a:sy n="33" d="100"/>
      </p:scale>
      <p:origin x="0" y="-1524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1C43CE-F5D2-4520-94BD-7BEBD538D773}" type="datetimeFigureOut">
              <a:rPr lang="fr-FR" smtClean="0"/>
              <a:t>24/01/2026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736B2-FEAE-4A93-895B-8BE9D9C111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1305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F6A79B-6E22-4B7F-AB05-C6C257D041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8605C63-0F20-4975-B3F6-A12E5287E4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7734F5E-5A3C-4AB6-916C-3B87E6B40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50AD2-84D2-405D-9316-0DEA9C30590F}" type="datetimeFigureOut">
              <a:rPr lang="fr-FR" smtClean="0"/>
              <a:t>24/01/2026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46BA714-B977-45D6-A49C-0B67D5515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60A4E2C-E136-4742-BDCC-9E3F9FC9D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D9E16-1883-4A5F-98A0-36C049FC5C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209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2BECF2-0F0F-459B-9935-524B473CC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19304A-67CE-424A-B76E-2BFF1A9FF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3F0E348-0062-49B3-AA52-336E2841D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50AD2-84D2-405D-9316-0DEA9C30590F}" type="datetimeFigureOut">
              <a:rPr lang="fr-FR" smtClean="0"/>
              <a:t>24/01/2026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818553B-F944-46B5-A269-6E1686226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C267F26-0CA2-4DA9-9162-053D98994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D9E16-1883-4A5F-98A0-36C049FC5C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2098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F5C902-BEA5-4B9A-84B0-AC8CBC6B6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ABF2C36-4017-4CDC-AF0A-5019DC40A0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A3BA113-5002-45C4-ADF7-C2E614177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50AD2-84D2-405D-9316-0DEA9C30590F}" type="datetimeFigureOut">
              <a:rPr lang="fr-FR" smtClean="0"/>
              <a:t>24/01/2026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01A70D0-1DAC-41C8-8CAE-2BA27A1B7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42C598C-6E73-46CD-BA8E-E8F5B0DE0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D9E16-1883-4A5F-98A0-36C049FC5C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0500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ECCD70-0D8A-49E7-A223-376E99828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8A5E002-B818-4686-A7FE-3BD48B66C0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E8B5EC5-F878-41E7-8D49-F1F784F06D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6CFC5C8-3720-490C-93A2-1269BDA42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50AD2-84D2-405D-9316-0DEA9C30590F}" type="datetimeFigureOut">
              <a:rPr lang="fr-FR" smtClean="0"/>
              <a:t>24/01/2026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35D2FF1-B5B6-4583-8627-54DD1F543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C5CFFBF-DE8B-4A22-B75A-E013CB58F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D9E16-1883-4A5F-98A0-36C049FC5C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4564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0811E3-D1FE-4035-B87A-2ADBBEC06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1A55996-E6ED-4AAF-BE3C-6D094E6D84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56082A6-C829-4710-AFF0-F01D30C316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18A9208-6626-4C8D-9442-6403D788D1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7404852-8930-4F2E-ADCE-440353F92E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E2E0953-BE28-4FE9-B3A2-965E7AF9B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50AD2-84D2-405D-9316-0DEA9C30590F}" type="datetimeFigureOut">
              <a:rPr lang="fr-FR" smtClean="0"/>
              <a:t>24/01/2026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5189AD9-5344-480B-A8BB-DDDB11C6D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3DD1804-8C38-44AA-B52F-DF76CCB31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D9E16-1883-4A5F-98A0-36C049FC5C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4089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30CB74-E3E6-4F90-858D-7F967455D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DFB1714-0426-4518-B7B8-3D3349B24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50AD2-84D2-405D-9316-0DEA9C30590F}" type="datetimeFigureOut">
              <a:rPr lang="fr-FR" smtClean="0"/>
              <a:t>24/01/2026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B932B19-86D2-436B-AB90-B3B730923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720A228-3087-42C8-89D2-735956727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D9E16-1883-4A5F-98A0-36C049FC5C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5983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60A1EDA-BB1E-4D2D-B342-672D474B3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50AD2-84D2-405D-9316-0DEA9C30590F}" type="datetimeFigureOut">
              <a:rPr lang="fr-FR" smtClean="0"/>
              <a:t>24/01/2026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5BCE96E-BA6C-43C9-B3C8-05110E2D0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E0011F5-A269-401A-9A18-AA6DAEED2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D9E16-1883-4A5F-98A0-36C049FC5C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9437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3F605E-2239-48A9-A589-0C2470BA9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E9AA172-67C4-4333-BC2E-12A5153DF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C7FC8C0-270B-4CD5-A33D-C49416FBC0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2628186-B2AD-45DE-9643-20B78C4EA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50AD2-84D2-405D-9316-0DEA9C30590F}" type="datetimeFigureOut">
              <a:rPr lang="fr-FR" smtClean="0"/>
              <a:t>24/01/2026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7E3F039-F088-4494-B2B0-98DF67EF4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7891801-112C-4576-B3E7-DE3136229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D9E16-1883-4A5F-98A0-36C049FC5C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3114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240FE4-CE1A-4F8C-9914-D1CCC3B35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D5B24B0-FCB3-4CED-89A9-631B47805A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B05DE99-6E3F-4BD9-95E1-57CE064305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CB904B0-0502-41F6-BFA8-268AB5182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50AD2-84D2-405D-9316-0DEA9C30590F}" type="datetimeFigureOut">
              <a:rPr lang="fr-FR" smtClean="0"/>
              <a:t>24/01/2026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E724A2B-AAA8-4D1B-9904-3D747388E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867CF29-FC50-4A9D-960E-953D4B32B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D9E16-1883-4A5F-98A0-36C049FC5C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4649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7D4D95-93F3-4C6A-8B29-20A94BBF6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FD540AF-2628-43C8-B550-A7857F5BB1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063A9AE-440C-4A5D-B5CD-FDB2B4102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50AD2-84D2-405D-9316-0DEA9C30590F}" type="datetimeFigureOut">
              <a:rPr lang="fr-FR" smtClean="0"/>
              <a:t>24/01/2026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A91E532-771C-4502-B125-B4820004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0E32369-2012-446E-8264-EE4257187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D9E16-1883-4A5F-98A0-36C049FC5C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5067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C040AD6-408D-42A2-8621-ABD5D26EEB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9EA5AF3-D669-4579-83B1-85816CFD19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7D7643A-3173-4AD2-8040-7E953E18C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50AD2-84D2-405D-9316-0DEA9C30590F}" type="datetimeFigureOut">
              <a:rPr lang="fr-FR" smtClean="0"/>
              <a:t>24/01/2026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90EDCF4-1227-4DC9-BFA2-BD35D8B16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6CEF8CC-7502-4950-B582-D99B4CCFC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D9E16-1883-4A5F-98A0-36C049FC5C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8865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5281AD1-E017-4E4C-A007-75D0E836A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2287744-1523-4592-BCB6-09A948E2D0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452B03A-32BF-4833-9AA6-C821C5E265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850AD2-84D2-405D-9316-0DEA9C30590F}" type="datetimeFigureOut">
              <a:rPr lang="fr-FR" smtClean="0"/>
              <a:t>24/01/2026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9667B2-5539-458C-9322-690C28912C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CF11CEF-AFC5-45CD-B7E4-3E903837D0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D9E16-1883-4A5F-98A0-36C049FC5C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2031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Ellipse 47">
            <a:extLst>
              <a:ext uri="{FF2B5EF4-FFF2-40B4-BE49-F238E27FC236}">
                <a16:creationId xmlns:a16="http://schemas.microsoft.com/office/drawing/2014/main" id="{8126B088-A172-4998-8B54-95710AEF4CB7}"/>
              </a:ext>
            </a:extLst>
          </p:cNvPr>
          <p:cNvSpPr/>
          <p:nvPr/>
        </p:nvSpPr>
        <p:spPr>
          <a:xfrm>
            <a:off x="2028825" y="3288041"/>
            <a:ext cx="3096000" cy="828000"/>
          </a:xfrm>
          <a:prstGeom prst="ellipse">
            <a:avLst/>
          </a:prstGeom>
          <a:solidFill>
            <a:srgbClr val="FFE7E7">
              <a:alpha val="20000"/>
            </a:srgbClr>
          </a:solidFill>
          <a:ln w="19050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6D78AD68-897B-44EE-AE84-2D65F69B5F53}"/>
              </a:ext>
            </a:extLst>
          </p:cNvPr>
          <p:cNvSpPr txBox="1"/>
          <p:nvPr/>
        </p:nvSpPr>
        <p:spPr>
          <a:xfrm>
            <a:off x="1928067" y="600345"/>
            <a:ext cx="1152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latin typeface="Century Gothic" panose="020B0502020202020204" pitchFamily="34" charset="0"/>
              </a:rPr>
              <a:t>Ressource :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D642FCD-B19B-40D1-BF2F-999EF3FF6A81}"/>
              </a:ext>
            </a:extLst>
          </p:cNvPr>
          <p:cNvSpPr/>
          <p:nvPr/>
        </p:nvSpPr>
        <p:spPr>
          <a:xfrm>
            <a:off x="2695089" y="2966282"/>
            <a:ext cx="1836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400" b="1" dirty="0">
                <a:latin typeface="Century Gothic" panose="020B0502020202020204" pitchFamily="34" charset="0"/>
              </a:rPr>
              <a:t>centrale thermique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DC53B478-9928-47AF-BFD3-A980E99AD31B}"/>
              </a:ext>
            </a:extLst>
          </p:cNvPr>
          <p:cNvSpPr txBox="1"/>
          <p:nvPr/>
        </p:nvSpPr>
        <p:spPr>
          <a:xfrm>
            <a:off x="3130059" y="3377298"/>
            <a:ext cx="72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W</a:t>
            </a:r>
            <a:r>
              <a:rPr lang="fr-FR" sz="1400" b="1" baseline="-25000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méca</a:t>
            </a:r>
            <a:endParaRPr lang="fr-FR" sz="1400" b="1" baseline="-250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54" name="Connecteur droit avec flèche 53">
            <a:extLst>
              <a:ext uri="{FF2B5EF4-FFF2-40B4-BE49-F238E27FC236}">
                <a16:creationId xmlns:a16="http://schemas.microsoft.com/office/drawing/2014/main" id="{5DD738FE-81DD-410F-BAC1-5A504B1533C3}"/>
              </a:ext>
            </a:extLst>
          </p:cNvPr>
          <p:cNvCxnSpPr>
            <a:cxnSpLocks/>
          </p:cNvCxnSpPr>
          <p:nvPr/>
        </p:nvCxnSpPr>
        <p:spPr>
          <a:xfrm>
            <a:off x="3207496" y="3707779"/>
            <a:ext cx="648000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avec flèche 54">
            <a:extLst>
              <a:ext uri="{FF2B5EF4-FFF2-40B4-BE49-F238E27FC236}">
                <a16:creationId xmlns:a16="http://schemas.microsoft.com/office/drawing/2014/main" id="{58D29BCD-7FF9-418E-A13C-7D7A67D06847}"/>
              </a:ext>
            </a:extLst>
          </p:cNvPr>
          <p:cNvCxnSpPr>
            <a:cxnSpLocks/>
          </p:cNvCxnSpPr>
          <p:nvPr/>
        </p:nvCxnSpPr>
        <p:spPr>
          <a:xfrm>
            <a:off x="4995964" y="3698254"/>
            <a:ext cx="684000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ZoneTexte 55">
            <a:extLst>
              <a:ext uri="{FF2B5EF4-FFF2-40B4-BE49-F238E27FC236}">
                <a16:creationId xmlns:a16="http://schemas.microsoft.com/office/drawing/2014/main" id="{6F35D948-13BE-4EF8-B05D-75ABAE80F412}"/>
              </a:ext>
            </a:extLst>
          </p:cNvPr>
          <p:cNvSpPr txBox="1"/>
          <p:nvPr/>
        </p:nvSpPr>
        <p:spPr>
          <a:xfrm>
            <a:off x="6600825" y="3724274"/>
            <a:ext cx="828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300" b="1" dirty="0">
                <a:solidFill>
                  <a:srgbClr val="CDB27D"/>
                </a:solidFill>
                <a:latin typeface="Century Gothic" panose="020B0502020202020204" pitchFamily="34" charset="0"/>
              </a:rPr>
              <a:t>énergie finale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ABE5E02-22B1-455F-A556-AB208672654B}"/>
              </a:ext>
            </a:extLst>
          </p:cNvPr>
          <p:cNvSpPr>
            <a:spLocks/>
          </p:cNvSpPr>
          <p:nvPr/>
        </p:nvSpPr>
        <p:spPr>
          <a:xfrm>
            <a:off x="428908" y="3450082"/>
            <a:ext cx="684000" cy="468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293D153A-63A8-4E72-9C93-BD4D93F6C93F}"/>
              </a:ext>
            </a:extLst>
          </p:cNvPr>
          <p:cNvSpPr/>
          <p:nvPr/>
        </p:nvSpPr>
        <p:spPr>
          <a:xfrm>
            <a:off x="2305051" y="3449672"/>
            <a:ext cx="900000" cy="504000"/>
          </a:xfrm>
          <a:prstGeom prst="ellipse">
            <a:avLst/>
          </a:prstGeom>
          <a:solidFill>
            <a:srgbClr val="FFE7E7">
              <a:alpha val="89804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0" name="Connecteur droit avec flèche 59">
            <a:extLst>
              <a:ext uri="{FF2B5EF4-FFF2-40B4-BE49-F238E27FC236}">
                <a16:creationId xmlns:a16="http://schemas.microsoft.com/office/drawing/2014/main" id="{968E1B76-7908-4402-B1BF-AC7E6119DCDC}"/>
              </a:ext>
            </a:extLst>
          </p:cNvPr>
          <p:cNvCxnSpPr>
            <a:cxnSpLocks/>
          </p:cNvCxnSpPr>
          <p:nvPr/>
        </p:nvCxnSpPr>
        <p:spPr>
          <a:xfrm>
            <a:off x="1142411" y="3690556"/>
            <a:ext cx="1152000" cy="0"/>
          </a:xfrm>
          <a:prstGeom prst="straightConnector1">
            <a:avLst/>
          </a:prstGeom>
          <a:ln w="5080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ZoneTexte 60">
            <a:extLst>
              <a:ext uri="{FF2B5EF4-FFF2-40B4-BE49-F238E27FC236}">
                <a16:creationId xmlns:a16="http://schemas.microsoft.com/office/drawing/2014/main" id="{C587D46F-2CF1-40AB-A79A-DB5B16BE0F14}"/>
              </a:ext>
            </a:extLst>
          </p:cNvPr>
          <p:cNvSpPr txBox="1"/>
          <p:nvPr/>
        </p:nvSpPr>
        <p:spPr>
          <a:xfrm>
            <a:off x="1213373" y="3719066"/>
            <a:ext cx="864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300" b="1" dirty="0">
                <a:solidFill>
                  <a:srgbClr val="7030A0"/>
                </a:solidFill>
                <a:latin typeface="Century Gothic" panose="020B0502020202020204" pitchFamily="34" charset="0"/>
              </a:rPr>
              <a:t>énergie primaire </a:t>
            </a: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B8391876-01DA-42A5-9456-3B88E9B80B3D}"/>
              </a:ext>
            </a:extLst>
          </p:cNvPr>
          <p:cNvSpPr txBox="1"/>
          <p:nvPr/>
        </p:nvSpPr>
        <p:spPr>
          <a:xfrm>
            <a:off x="2351033" y="3542628"/>
            <a:ext cx="828000" cy="324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latin typeface="Century Gothic" panose="020B0502020202020204" pitchFamily="34" charset="0"/>
              </a:rPr>
              <a:t>Turbine</a:t>
            </a:r>
          </a:p>
        </p:txBody>
      </p:sp>
      <p:cxnSp>
        <p:nvCxnSpPr>
          <p:cNvPr id="63" name="Connecteur droit avec flèche 62">
            <a:extLst>
              <a:ext uri="{FF2B5EF4-FFF2-40B4-BE49-F238E27FC236}">
                <a16:creationId xmlns:a16="http://schemas.microsoft.com/office/drawing/2014/main" id="{975C5CA5-8340-45AE-8739-7CBC84D0B2BF}"/>
              </a:ext>
            </a:extLst>
          </p:cNvPr>
          <p:cNvCxnSpPr>
            <a:cxnSpLocks/>
          </p:cNvCxnSpPr>
          <p:nvPr/>
        </p:nvCxnSpPr>
        <p:spPr>
          <a:xfrm>
            <a:off x="2733086" y="3976306"/>
            <a:ext cx="0" cy="684000"/>
          </a:xfrm>
          <a:prstGeom prst="straightConnector1">
            <a:avLst/>
          </a:prstGeom>
          <a:ln w="3810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ZoneTexte 63">
            <a:extLst>
              <a:ext uri="{FF2B5EF4-FFF2-40B4-BE49-F238E27FC236}">
                <a16:creationId xmlns:a16="http://schemas.microsoft.com/office/drawing/2014/main" id="{E136F5BF-64D9-4BEB-837F-78128A6417A6}"/>
              </a:ext>
            </a:extLst>
          </p:cNvPr>
          <p:cNvSpPr txBox="1"/>
          <p:nvPr/>
        </p:nvSpPr>
        <p:spPr>
          <a:xfrm>
            <a:off x="262321" y="3923628"/>
            <a:ext cx="93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Century Gothic" panose="020B0502020202020204" pitchFamily="34" charset="0"/>
              </a:rPr>
              <a:t>énergie chimique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642C23B-5276-425A-B5A1-2858B2AB9333}"/>
              </a:ext>
            </a:extLst>
          </p:cNvPr>
          <p:cNvSpPr>
            <a:spLocks/>
          </p:cNvSpPr>
          <p:nvPr/>
        </p:nvSpPr>
        <p:spPr>
          <a:xfrm>
            <a:off x="2581558" y="4659757"/>
            <a:ext cx="3708000" cy="36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6" name="ZoneTexte 65">
            <a:extLst>
              <a:ext uri="{FF2B5EF4-FFF2-40B4-BE49-F238E27FC236}">
                <a16:creationId xmlns:a16="http://schemas.microsoft.com/office/drawing/2014/main" id="{14100540-46E7-4BA3-B85B-05A15E5788FF}"/>
              </a:ext>
            </a:extLst>
          </p:cNvPr>
          <p:cNvSpPr txBox="1"/>
          <p:nvPr/>
        </p:nvSpPr>
        <p:spPr>
          <a:xfrm>
            <a:off x="2756423" y="4273419"/>
            <a:ext cx="111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chaleur Q</a:t>
            </a:r>
            <a:r>
              <a:rPr lang="fr-FR" sz="1400" b="1" baseline="-25000" dirty="0">
                <a:solidFill>
                  <a:srgbClr val="C00000"/>
                </a:solidFill>
                <a:latin typeface="Century Gothic" panose="020B0502020202020204" pitchFamily="34" charset="0"/>
              </a:rPr>
              <a:t>1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C82110BE-B0FA-4BD6-B2E2-EC16318EB9E2}"/>
              </a:ext>
            </a:extLst>
          </p:cNvPr>
          <p:cNvSpPr txBox="1"/>
          <p:nvPr/>
        </p:nvSpPr>
        <p:spPr>
          <a:xfrm>
            <a:off x="3609975" y="4664953"/>
            <a:ext cx="16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latin typeface="Century Gothic" panose="020B0502020202020204" pitchFamily="34" charset="0"/>
              </a:rPr>
              <a:t>Environnement</a:t>
            </a:r>
          </a:p>
        </p:txBody>
      </p:sp>
      <p:sp>
        <p:nvSpPr>
          <p:cNvPr id="68" name="Ellipse 67">
            <a:extLst>
              <a:ext uri="{FF2B5EF4-FFF2-40B4-BE49-F238E27FC236}">
                <a16:creationId xmlns:a16="http://schemas.microsoft.com/office/drawing/2014/main" id="{7EA01C73-9325-413E-B6BC-227B4F738895}"/>
              </a:ext>
            </a:extLst>
          </p:cNvPr>
          <p:cNvSpPr/>
          <p:nvPr/>
        </p:nvSpPr>
        <p:spPr>
          <a:xfrm>
            <a:off x="3857626" y="3459197"/>
            <a:ext cx="1152000" cy="468000"/>
          </a:xfrm>
          <a:prstGeom prst="ellipse">
            <a:avLst/>
          </a:prstGeom>
          <a:solidFill>
            <a:srgbClr val="DCE5F4">
              <a:alpha val="15000"/>
            </a:srgb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D7F8E9F6-C2DF-45B6-9AB4-C74B891103AF}"/>
              </a:ext>
            </a:extLst>
          </p:cNvPr>
          <p:cNvSpPr txBox="1"/>
          <p:nvPr/>
        </p:nvSpPr>
        <p:spPr>
          <a:xfrm>
            <a:off x="3854969" y="3542628"/>
            <a:ext cx="115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latin typeface="Century Gothic" panose="020B0502020202020204" pitchFamily="34" charset="0"/>
              </a:rPr>
              <a:t>Alternateur</a:t>
            </a:r>
          </a:p>
        </p:txBody>
      </p:sp>
      <p:cxnSp>
        <p:nvCxnSpPr>
          <p:cNvPr id="70" name="Connecteur droit avec flèche 69">
            <a:extLst>
              <a:ext uri="{FF2B5EF4-FFF2-40B4-BE49-F238E27FC236}">
                <a16:creationId xmlns:a16="http://schemas.microsoft.com/office/drawing/2014/main" id="{FC34DAF3-0842-40FE-91FD-C76E2160874A}"/>
              </a:ext>
            </a:extLst>
          </p:cNvPr>
          <p:cNvCxnSpPr>
            <a:cxnSpLocks/>
          </p:cNvCxnSpPr>
          <p:nvPr/>
        </p:nvCxnSpPr>
        <p:spPr>
          <a:xfrm>
            <a:off x="4447586" y="3947731"/>
            <a:ext cx="0" cy="720000"/>
          </a:xfrm>
          <a:prstGeom prst="straightConnector1">
            <a:avLst/>
          </a:prstGeom>
          <a:ln w="3810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ZoneTexte 70">
            <a:extLst>
              <a:ext uri="{FF2B5EF4-FFF2-40B4-BE49-F238E27FC236}">
                <a16:creationId xmlns:a16="http://schemas.microsoft.com/office/drawing/2014/main" id="{570F92B3-E894-4BFB-8082-F7E3C9845622}"/>
              </a:ext>
            </a:extLst>
          </p:cNvPr>
          <p:cNvSpPr txBox="1"/>
          <p:nvPr/>
        </p:nvSpPr>
        <p:spPr>
          <a:xfrm>
            <a:off x="4442348" y="4273419"/>
            <a:ext cx="111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chaleur Q</a:t>
            </a:r>
            <a:r>
              <a:rPr lang="fr-FR" sz="1400" b="1" baseline="-25000" dirty="0">
                <a:solidFill>
                  <a:srgbClr val="C00000"/>
                </a:solidFill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E9023ED2-045D-4B17-BB81-EF6020CFE1F2}"/>
              </a:ext>
            </a:extLst>
          </p:cNvPr>
          <p:cNvSpPr txBox="1"/>
          <p:nvPr/>
        </p:nvSpPr>
        <p:spPr>
          <a:xfrm>
            <a:off x="442167" y="3495945"/>
            <a:ext cx="6467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latin typeface="Century Gothic" panose="020B0502020202020204" pitchFamily="34" charset="0"/>
              </a:rPr>
              <a:t>Bois</a:t>
            </a:r>
          </a:p>
        </p:txBody>
      </p:sp>
      <p:sp>
        <p:nvSpPr>
          <p:cNvPr id="75" name="ZoneTexte 74">
            <a:extLst>
              <a:ext uri="{FF2B5EF4-FFF2-40B4-BE49-F238E27FC236}">
                <a16:creationId xmlns:a16="http://schemas.microsoft.com/office/drawing/2014/main" id="{A1817BF1-A47C-4C3D-9DEB-98D747C227B8}"/>
              </a:ext>
            </a:extLst>
          </p:cNvPr>
          <p:cNvSpPr txBox="1"/>
          <p:nvPr/>
        </p:nvSpPr>
        <p:spPr>
          <a:xfrm>
            <a:off x="5054109" y="3386823"/>
            <a:ext cx="61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W</a:t>
            </a:r>
            <a:r>
              <a:rPr lang="fr-FR" sz="1400" b="1" baseline="-25000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élec</a:t>
            </a:r>
            <a:endParaRPr lang="fr-FR" sz="1400" b="1" baseline="-250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78" name="Ellipse 77">
            <a:extLst>
              <a:ext uri="{FF2B5EF4-FFF2-40B4-BE49-F238E27FC236}">
                <a16:creationId xmlns:a16="http://schemas.microsoft.com/office/drawing/2014/main" id="{A3B0251F-39E8-4ACD-B48F-29EB1A11712B}"/>
              </a:ext>
            </a:extLst>
          </p:cNvPr>
          <p:cNvSpPr/>
          <p:nvPr/>
        </p:nvSpPr>
        <p:spPr>
          <a:xfrm>
            <a:off x="5695951" y="3440147"/>
            <a:ext cx="1008000" cy="504000"/>
          </a:xfrm>
          <a:prstGeom prst="ellipse">
            <a:avLst/>
          </a:prstGeom>
          <a:solidFill>
            <a:srgbClr val="DCE5F4">
              <a:alpha val="15000"/>
            </a:srgb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9" name="ZoneTexte 78">
            <a:extLst>
              <a:ext uri="{FF2B5EF4-FFF2-40B4-BE49-F238E27FC236}">
                <a16:creationId xmlns:a16="http://schemas.microsoft.com/office/drawing/2014/main" id="{F6FA0794-3740-48FC-A3EC-4EBA8383B34F}"/>
              </a:ext>
            </a:extLst>
          </p:cNvPr>
          <p:cNvSpPr txBox="1"/>
          <p:nvPr/>
        </p:nvSpPr>
        <p:spPr>
          <a:xfrm>
            <a:off x="5712344" y="3409278"/>
            <a:ext cx="1008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300" b="1" dirty="0">
                <a:latin typeface="Century Gothic" panose="020B0502020202020204" pitchFamily="34" charset="0"/>
              </a:rPr>
              <a:t>Réseau électrique</a:t>
            </a:r>
          </a:p>
        </p:txBody>
      </p:sp>
      <p:cxnSp>
        <p:nvCxnSpPr>
          <p:cNvPr id="80" name="Connecteur droit avec flèche 79">
            <a:extLst>
              <a:ext uri="{FF2B5EF4-FFF2-40B4-BE49-F238E27FC236}">
                <a16:creationId xmlns:a16="http://schemas.microsoft.com/office/drawing/2014/main" id="{3030BBAA-1D97-4B32-AE63-71D91B58D322}"/>
              </a:ext>
            </a:extLst>
          </p:cNvPr>
          <p:cNvCxnSpPr>
            <a:cxnSpLocks/>
          </p:cNvCxnSpPr>
          <p:nvPr/>
        </p:nvCxnSpPr>
        <p:spPr>
          <a:xfrm>
            <a:off x="6729514" y="3698254"/>
            <a:ext cx="828000" cy="0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ZoneTexte 80">
            <a:extLst>
              <a:ext uri="{FF2B5EF4-FFF2-40B4-BE49-F238E27FC236}">
                <a16:creationId xmlns:a16="http://schemas.microsoft.com/office/drawing/2014/main" id="{4042EBDE-376F-491F-9E94-0CCC62355876}"/>
              </a:ext>
            </a:extLst>
          </p:cNvPr>
          <p:cNvSpPr txBox="1"/>
          <p:nvPr/>
        </p:nvSpPr>
        <p:spPr>
          <a:xfrm>
            <a:off x="6682884" y="3377298"/>
            <a:ext cx="72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W</a:t>
            </a:r>
            <a:r>
              <a:rPr lang="fr-FR" sz="1400" b="1" baseline="-25000" dirty="0">
                <a:solidFill>
                  <a:schemeClr val="accent1"/>
                </a:solidFill>
                <a:latin typeface="Century Gothic" panose="020B0502020202020204" pitchFamily="34" charset="0"/>
              </a:rPr>
              <a:t>2 élec</a:t>
            </a:r>
          </a:p>
        </p:txBody>
      </p:sp>
      <p:cxnSp>
        <p:nvCxnSpPr>
          <p:cNvPr id="90" name="Connecteur droit avec flèche 89">
            <a:extLst>
              <a:ext uri="{FF2B5EF4-FFF2-40B4-BE49-F238E27FC236}">
                <a16:creationId xmlns:a16="http://schemas.microsoft.com/office/drawing/2014/main" id="{935522AE-E4FE-43D4-BEB1-EFC2B5C4A98D}"/>
              </a:ext>
            </a:extLst>
          </p:cNvPr>
          <p:cNvCxnSpPr>
            <a:cxnSpLocks/>
          </p:cNvCxnSpPr>
          <p:nvPr/>
        </p:nvCxnSpPr>
        <p:spPr>
          <a:xfrm>
            <a:off x="6200186" y="3966781"/>
            <a:ext cx="0" cy="684000"/>
          </a:xfrm>
          <a:prstGeom prst="straightConnector1">
            <a:avLst/>
          </a:prstGeom>
          <a:ln w="3810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ZoneTexte 90">
            <a:extLst>
              <a:ext uri="{FF2B5EF4-FFF2-40B4-BE49-F238E27FC236}">
                <a16:creationId xmlns:a16="http://schemas.microsoft.com/office/drawing/2014/main" id="{2DEF55FA-DAF0-471A-A34E-9D88C8834BF0}"/>
              </a:ext>
            </a:extLst>
          </p:cNvPr>
          <p:cNvSpPr txBox="1"/>
          <p:nvPr/>
        </p:nvSpPr>
        <p:spPr>
          <a:xfrm>
            <a:off x="6213998" y="4292469"/>
            <a:ext cx="111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chaleur Q</a:t>
            </a:r>
            <a:r>
              <a:rPr lang="fr-FR" sz="1400" b="1" baseline="-25000" dirty="0">
                <a:solidFill>
                  <a:srgbClr val="C00000"/>
                </a:solidFill>
                <a:latin typeface="Century Gothic" panose="020B0502020202020204" pitchFamily="34" charset="0"/>
              </a:rPr>
              <a:t>3</a:t>
            </a:r>
          </a:p>
        </p:txBody>
      </p:sp>
      <p:sp>
        <p:nvSpPr>
          <p:cNvPr id="97" name="Ellipse 96">
            <a:extLst>
              <a:ext uri="{FF2B5EF4-FFF2-40B4-BE49-F238E27FC236}">
                <a16:creationId xmlns:a16="http://schemas.microsoft.com/office/drawing/2014/main" id="{A7285171-2F94-41C5-BB25-C08034DE5D1D}"/>
              </a:ext>
            </a:extLst>
          </p:cNvPr>
          <p:cNvSpPr/>
          <p:nvPr/>
        </p:nvSpPr>
        <p:spPr>
          <a:xfrm>
            <a:off x="7553326" y="3421097"/>
            <a:ext cx="1008000" cy="576000"/>
          </a:xfrm>
          <a:prstGeom prst="ellipse">
            <a:avLst/>
          </a:prstGeom>
          <a:solidFill>
            <a:srgbClr val="DCE5F4">
              <a:alpha val="15000"/>
            </a:srgb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6C84355D-6B13-4242-A917-C00773B34120}"/>
              </a:ext>
            </a:extLst>
          </p:cNvPr>
          <p:cNvSpPr txBox="1"/>
          <p:nvPr/>
        </p:nvSpPr>
        <p:spPr>
          <a:xfrm>
            <a:off x="7569719" y="3447377"/>
            <a:ext cx="1008000" cy="43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300" b="1" dirty="0">
                <a:latin typeface="Century Gothic" panose="020B0502020202020204" pitchFamily="34" charset="0"/>
              </a:rPr>
              <a:t>Radiateur électrique</a:t>
            </a: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70E576D-F6B2-43C1-928B-665DA08C893C}"/>
              </a:ext>
            </a:extLst>
          </p:cNvPr>
          <p:cNvSpPr txBox="1"/>
          <p:nvPr/>
        </p:nvSpPr>
        <p:spPr>
          <a:xfrm>
            <a:off x="8473650" y="3776217"/>
            <a:ext cx="13320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300" b="1" dirty="0">
                <a:solidFill>
                  <a:schemeClr val="accent6"/>
                </a:solidFill>
                <a:latin typeface="Century Gothic" panose="020B0502020202020204" pitchFamily="34" charset="0"/>
              </a:rPr>
              <a:t>= énergie utile</a:t>
            </a:r>
          </a:p>
        </p:txBody>
      </p:sp>
      <p:cxnSp>
        <p:nvCxnSpPr>
          <p:cNvPr id="101" name="Connecteur droit avec flèche 100">
            <a:extLst>
              <a:ext uri="{FF2B5EF4-FFF2-40B4-BE49-F238E27FC236}">
                <a16:creationId xmlns:a16="http://schemas.microsoft.com/office/drawing/2014/main" id="{04461BFC-9A44-4790-9766-13F10C489FAF}"/>
              </a:ext>
            </a:extLst>
          </p:cNvPr>
          <p:cNvCxnSpPr>
            <a:cxnSpLocks/>
          </p:cNvCxnSpPr>
          <p:nvPr/>
        </p:nvCxnSpPr>
        <p:spPr>
          <a:xfrm>
            <a:off x="8584571" y="3709606"/>
            <a:ext cx="432000" cy="0"/>
          </a:xfrm>
          <a:prstGeom prst="straightConnector1">
            <a:avLst/>
          </a:prstGeom>
          <a:ln w="5080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ZoneTexte 101">
            <a:extLst>
              <a:ext uri="{FF2B5EF4-FFF2-40B4-BE49-F238E27FC236}">
                <a16:creationId xmlns:a16="http://schemas.microsoft.com/office/drawing/2014/main" id="{17138D48-15E6-46B3-B729-30B1DFBC6023}"/>
              </a:ext>
            </a:extLst>
          </p:cNvPr>
          <p:cNvSpPr txBox="1"/>
          <p:nvPr/>
        </p:nvSpPr>
        <p:spPr>
          <a:xfrm>
            <a:off x="8985773" y="3539994"/>
            <a:ext cx="432000" cy="28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Q</a:t>
            </a:r>
            <a:r>
              <a:rPr lang="fr-FR" sz="1400" b="1" baseline="-25000" dirty="0">
                <a:solidFill>
                  <a:srgbClr val="C00000"/>
                </a:solidFill>
                <a:latin typeface="Century Gothic" panose="020B0502020202020204" pitchFamily="34" charset="0"/>
              </a:rPr>
              <a:t>4</a:t>
            </a:r>
          </a:p>
        </p:txBody>
      </p:sp>
      <p:cxnSp>
        <p:nvCxnSpPr>
          <p:cNvPr id="103" name="Connecteur droit avec flèche 102">
            <a:extLst>
              <a:ext uri="{FF2B5EF4-FFF2-40B4-BE49-F238E27FC236}">
                <a16:creationId xmlns:a16="http://schemas.microsoft.com/office/drawing/2014/main" id="{5AA734C3-1E58-401E-9A6D-B99CBFF87310}"/>
              </a:ext>
            </a:extLst>
          </p:cNvPr>
          <p:cNvCxnSpPr>
            <a:cxnSpLocks/>
          </p:cNvCxnSpPr>
          <p:nvPr/>
        </p:nvCxnSpPr>
        <p:spPr>
          <a:xfrm>
            <a:off x="9410111" y="3719131"/>
            <a:ext cx="612000" cy="0"/>
          </a:xfrm>
          <a:prstGeom prst="straightConnector1">
            <a:avLst/>
          </a:prstGeom>
          <a:ln w="3810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ectangle 103">
            <a:extLst>
              <a:ext uri="{FF2B5EF4-FFF2-40B4-BE49-F238E27FC236}">
                <a16:creationId xmlns:a16="http://schemas.microsoft.com/office/drawing/2014/main" id="{E5EFFFCE-D708-4EE2-86C9-5C19B59FC2C4}"/>
              </a:ext>
            </a:extLst>
          </p:cNvPr>
          <p:cNvSpPr>
            <a:spLocks/>
          </p:cNvSpPr>
          <p:nvPr/>
        </p:nvSpPr>
        <p:spPr>
          <a:xfrm>
            <a:off x="10020583" y="3535807"/>
            <a:ext cx="1728000" cy="36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5" name="ZoneTexte 104">
            <a:extLst>
              <a:ext uri="{FF2B5EF4-FFF2-40B4-BE49-F238E27FC236}">
                <a16:creationId xmlns:a16="http://schemas.microsoft.com/office/drawing/2014/main" id="{D9C8C41A-B73F-4149-AE5F-E8D0E2EC97E9}"/>
              </a:ext>
            </a:extLst>
          </p:cNvPr>
          <p:cNvSpPr txBox="1"/>
          <p:nvPr/>
        </p:nvSpPr>
        <p:spPr>
          <a:xfrm>
            <a:off x="10048875" y="3541003"/>
            <a:ext cx="16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latin typeface="Century Gothic" panose="020B0502020202020204" pitchFamily="34" charset="0"/>
              </a:rPr>
              <a:t>Environnement</a:t>
            </a:r>
          </a:p>
        </p:txBody>
      </p:sp>
      <p:sp>
        <p:nvSpPr>
          <p:cNvPr id="111" name="ZoneTexte 110">
            <a:extLst>
              <a:ext uri="{FF2B5EF4-FFF2-40B4-BE49-F238E27FC236}">
                <a16:creationId xmlns:a16="http://schemas.microsoft.com/office/drawing/2014/main" id="{047EC17A-BD8D-4202-A110-7DFD51E9D88C}"/>
              </a:ext>
            </a:extLst>
          </p:cNvPr>
          <p:cNvSpPr txBox="1"/>
          <p:nvPr/>
        </p:nvSpPr>
        <p:spPr>
          <a:xfrm>
            <a:off x="2156668" y="851125"/>
            <a:ext cx="57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>
                <a:latin typeface="Century Gothic" panose="020B0502020202020204" pitchFamily="34" charset="0"/>
              </a:rPr>
              <a:t>Bois</a:t>
            </a:r>
          </a:p>
        </p:txBody>
      </p:sp>
      <p:cxnSp>
        <p:nvCxnSpPr>
          <p:cNvPr id="112" name="Connecteur droit avec flèche 111">
            <a:extLst>
              <a:ext uri="{FF2B5EF4-FFF2-40B4-BE49-F238E27FC236}">
                <a16:creationId xmlns:a16="http://schemas.microsoft.com/office/drawing/2014/main" id="{84983A0F-E761-4C92-9F15-E62F20C55367}"/>
              </a:ext>
            </a:extLst>
          </p:cNvPr>
          <p:cNvCxnSpPr>
            <a:cxnSpLocks/>
          </p:cNvCxnSpPr>
          <p:nvPr/>
        </p:nvCxnSpPr>
        <p:spPr>
          <a:xfrm>
            <a:off x="2877773" y="1431304"/>
            <a:ext cx="1044000" cy="0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Rectangle 159">
            <a:extLst>
              <a:ext uri="{FF2B5EF4-FFF2-40B4-BE49-F238E27FC236}">
                <a16:creationId xmlns:a16="http://schemas.microsoft.com/office/drawing/2014/main" id="{E8CEB9CC-A341-48FE-B69A-BC9BA9603D7D}"/>
              </a:ext>
            </a:extLst>
          </p:cNvPr>
          <p:cNvSpPr/>
          <p:nvPr/>
        </p:nvSpPr>
        <p:spPr>
          <a:xfrm>
            <a:off x="5703379" y="1991692"/>
            <a:ext cx="1620000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300" b="1" dirty="0">
                <a:latin typeface="Century Gothic" panose="020B0502020202020204" pitchFamily="34" charset="0"/>
              </a:rPr>
              <a:t>réseau électrique</a:t>
            </a:r>
          </a:p>
        </p:txBody>
      </p:sp>
      <p:sp>
        <p:nvSpPr>
          <p:cNvPr id="161" name="ZoneTexte 160">
            <a:extLst>
              <a:ext uri="{FF2B5EF4-FFF2-40B4-BE49-F238E27FC236}">
                <a16:creationId xmlns:a16="http://schemas.microsoft.com/office/drawing/2014/main" id="{67D6C0D4-59AD-4AEE-9A03-90E090CAAC3F}"/>
              </a:ext>
            </a:extLst>
          </p:cNvPr>
          <p:cNvSpPr txBox="1"/>
          <p:nvPr/>
        </p:nvSpPr>
        <p:spPr>
          <a:xfrm>
            <a:off x="1931786" y="1704816"/>
            <a:ext cx="9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Century Gothic" panose="020B0502020202020204" pitchFamily="34" charset="0"/>
              </a:rPr>
              <a:t>énergie chimique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1984EDB7-0E9B-4711-95B6-F49E27432572}"/>
              </a:ext>
            </a:extLst>
          </p:cNvPr>
          <p:cNvSpPr/>
          <p:nvPr/>
        </p:nvSpPr>
        <p:spPr>
          <a:xfrm>
            <a:off x="3904764" y="1994731"/>
            <a:ext cx="1728000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300" b="1" dirty="0">
                <a:latin typeface="Century Gothic" panose="020B0502020202020204" pitchFamily="34" charset="0"/>
              </a:rPr>
              <a:t>centrale thermique</a:t>
            </a:r>
          </a:p>
        </p:txBody>
      </p:sp>
      <p:pic>
        <p:nvPicPr>
          <p:cNvPr id="163" name="Image 162">
            <a:extLst>
              <a:ext uri="{FF2B5EF4-FFF2-40B4-BE49-F238E27FC236}">
                <a16:creationId xmlns:a16="http://schemas.microsoft.com/office/drawing/2014/main" id="{39EF3D57-736E-432B-974B-DB43946883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5974" y="1141816"/>
            <a:ext cx="916781" cy="610076"/>
          </a:xfrm>
          <a:prstGeom prst="rect">
            <a:avLst/>
          </a:prstGeom>
        </p:spPr>
      </p:pic>
      <p:cxnSp>
        <p:nvCxnSpPr>
          <p:cNvPr id="166" name="Connecteur droit 165">
            <a:extLst>
              <a:ext uri="{FF2B5EF4-FFF2-40B4-BE49-F238E27FC236}">
                <a16:creationId xmlns:a16="http://schemas.microsoft.com/office/drawing/2014/main" id="{189A90FA-82B4-4355-AEB0-247440334478}"/>
              </a:ext>
            </a:extLst>
          </p:cNvPr>
          <p:cNvCxnSpPr/>
          <p:nvPr/>
        </p:nvCxnSpPr>
        <p:spPr>
          <a:xfrm>
            <a:off x="7181479" y="1248925"/>
            <a:ext cx="792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7" name="Image 166">
            <a:extLst>
              <a:ext uri="{FF2B5EF4-FFF2-40B4-BE49-F238E27FC236}">
                <a16:creationId xmlns:a16="http://schemas.microsoft.com/office/drawing/2014/main" id="{FA9EAB2F-9F88-4709-AE0F-CEDAEA31C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029" y="1377306"/>
            <a:ext cx="233192" cy="246910"/>
          </a:xfrm>
          <a:prstGeom prst="rect">
            <a:avLst/>
          </a:prstGeom>
        </p:spPr>
      </p:pic>
      <p:cxnSp>
        <p:nvCxnSpPr>
          <p:cNvPr id="168" name="Connecteur droit 167">
            <a:extLst>
              <a:ext uri="{FF2B5EF4-FFF2-40B4-BE49-F238E27FC236}">
                <a16:creationId xmlns:a16="http://schemas.microsoft.com/office/drawing/2014/main" id="{42CB79E6-3002-4584-977A-E86794974735}"/>
              </a:ext>
            </a:extLst>
          </p:cNvPr>
          <p:cNvCxnSpPr>
            <a:cxnSpLocks/>
          </p:cNvCxnSpPr>
          <p:nvPr/>
        </p:nvCxnSpPr>
        <p:spPr>
          <a:xfrm rot="5400000">
            <a:off x="7324692" y="1800236"/>
            <a:ext cx="1008000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Connecteur droit 168">
            <a:extLst>
              <a:ext uri="{FF2B5EF4-FFF2-40B4-BE49-F238E27FC236}">
                <a16:creationId xmlns:a16="http://schemas.microsoft.com/office/drawing/2014/main" id="{618039A3-27A3-47C3-9A4B-CD66F51CA123}"/>
              </a:ext>
            </a:extLst>
          </p:cNvPr>
          <p:cNvCxnSpPr>
            <a:cxnSpLocks/>
          </p:cNvCxnSpPr>
          <p:nvPr/>
        </p:nvCxnSpPr>
        <p:spPr>
          <a:xfrm rot="5400000">
            <a:off x="9372567" y="1847861"/>
            <a:ext cx="1008000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Connecteur droit 169">
            <a:extLst>
              <a:ext uri="{FF2B5EF4-FFF2-40B4-BE49-F238E27FC236}">
                <a16:creationId xmlns:a16="http://schemas.microsoft.com/office/drawing/2014/main" id="{9E5F0918-7A09-4CFA-8925-822CB055FABE}"/>
              </a:ext>
            </a:extLst>
          </p:cNvPr>
          <p:cNvCxnSpPr>
            <a:cxnSpLocks/>
          </p:cNvCxnSpPr>
          <p:nvPr/>
        </p:nvCxnSpPr>
        <p:spPr>
          <a:xfrm flipH="1">
            <a:off x="7666114" y="933450"/>
            <a:ext cx="1209344" cy="432347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Connecteur droit 170">
            <a:extLst>
              <a:ext uri="{FF2B5EF4-FFF2-40B4-BE49-F238E27FC236}">
                <a16:creationId xmlns:a16="http://schemas.microsoft.com/office/drawing/2014/main" id="{114A43C7-00E1-45A6-83EB-A7AD1DCA7684}"/>
              </a:ext>
            </a:extLst>
          </p:cNvPr>
          <p:cNvCxnSpPr>
            <a:cxnSpLocks/>
          </p:cNvCxnSpPr>
          <p:nvPr/>
        </p:nvCxnSpPr>
        <p:spPr>
          <a:xfrm>
            <a:off x="8895864" y="933450"/>
            <a:ext cx="1124436" cy="434331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2" name="Image 171">
            <a:extLst>
              <a:ext uri="{FF2B5EF4-FFF2-40B4-BE49-F238E27FC236}">
                <a16:creationId xmlns:a16="http://schemas.microsoft.com/office/drawing/2014/main" id="{79FE2E1B-4575-4FDD-9801-4C1176C5B6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5834" y="1850047"/>
            <a:ext cx="792000" cy="446769"/>
          </a:xfrm>
          <a:prstGeom prst="rect">
            <a:avLst/>
          </a:prstGeom>
        </p:spPr>
      </p:pic>
      <p:sp>
        <p:nvSpPr>
          <p:cNvPr id="173" name="ZoneTexte 172">
            <a:extLst>
              <a:ext uri="{FF2B5EF4-FFF2-40B4-BE49-F238E27FC236}">
                <a16:creationId xmlns:a16="http://schemas.microsoft.com/office/drawing/2014/main" id="{4F322D11-F61F-4949-A8BF-67699BA3F43B}"/>
              </a:ext>
            </a:extLst>
          </p:cNvPr>
          <p:cNvSpPr txBox="1"/>
          <p:nvPr/>
        </p:nvSpPr>
        <p:spPr>
          <a:xfrm>
            <a:off x="7071360" y="417180"/>
            <a:ext cx="1440000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300" dirty="0">
                <a:solidFill>
                  <a:schemeClr val="accent1"/>
                </a:solidFill>
                <a:latin typeface="Century Gothic" panose="020B0502020202020204" pitchFamily="34" charset="0"/>
              </a:rPr>
              <a:t>électricité</a:t>
            </a:r>
            <a:r>
              <a:rPr lang="fr-FR" sz="1300" dirty="0">
                <a:latin typeface="Century Gothic" panose="020B0502020202020204" pitchFamily="34" charset="0"/>
              </a:rPr>
              <a:t> au compteur</a:t>
            </a:r>
          </a:p>
          <a:p>
            <a:pPr algn="ctr"/>
            <a:r>
              <a:rPr lang="fr-FR" sz="1300" dirty="0">
                <a:solidFill>
                  <a:srgbClr val="CDB27D"/>
                </a:solidFill>
                <a:latin typeface="Century Gothic" panose="020B0502020202020204" pitchFamily="34" charset="0"/>
              </a:rPr>
              <a:t>=</a:t>
            </a:r>
            <a:r>
              <a:rPr lang="fr-FR" sz="1300" b="1" dirty="0">
                <a:solidFill>
                  <a:srgbClr val="CDB27D"/>
                </a:solidFill>
                <a:latin typeface="Century Gothic" panose="020B0502020202020204" pitchFamily="34" charset="0"/>
              </a:rPr>
              <a:t> énergie finale</a:t>
            </a:r>
            <a:endParaRPr lang="fr-FR" sz="1300" dirty="0">
              <a:solidFill>
                <a:srgbClr val="CDB27D"/>
              </a:solidFill>
              <a:latin typeface="Century Gothic" panose="020B0502020202020204" pitchFamily="34" charset="0"/>
            </a:endParaRP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BB604318-E6C8-448F-A00F-1E09C930F166}"/>
              </a:ext>
            </a:extLst>
          </p:cNvPr>
          <p:cNvSpPr/>
          <p:nvPr/>
        </p:nvSpPr>
        <p:spPr>
          <a:xfrm>
            <a:off x="8752989" y="1380501"/>
            <a:ext cx="1152000" cy="396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100" dirty="0">
                <a:latin typeface="Century Gothic" panose="020B0502020202020204" pitchFamily="34" charset="0"/>
              </a:rPr>
              <a:t>convertisseur : radiateur</a:t>
            </a:r>
          </a:p>
        </p:txBody>
      </p:sp>
      <p:cxnSp>
        <p:nvCxnSpPr>
          <p:cNvPr id="175" name="Connecteur droit 174">
            <a:extLst>
              <a:ext uri="{FF2B5EF4-FFF2-40B4-BE49-F238E27FC236}">
                <a16:creationId xmlns:a16="http://schemas.microsoft.com/office/drawing/2014/main" id="{5BE38550-729B-4231-9A8E-4882E80B785D}"/>
              </a:ext>
            </a:extLst>
          </p:cNvPr>
          <p:cNvCxnSpPr/>
          <p:nvPr/>
        </p:nvCxnSpPr>
        <p:spPr>
          <a:xfrm>
            <a:off x="8133979" y="1458475"/>
            <a:ext cx="648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Connecteur droit 175">
            <a:extLst>
              <a:ext uri="{FF2B5EF4-FFF2-40B4-BE49-F238E27FC236}">
                <a16:creationId xmlns:a16="http://schemas.microsoft.com/office/drawing/2014/main" id="{9B50A9C9-9136-41F6-A983-95BF2DF4CE1D}"/>
              </a:ext>
            </a:extLst>
          </p:cNvPr>
          <p:cNvCxnSpPr>
            <a:cxnSpLocks/>
          </p:cNvCxnSpPr>
          <p:nvPr/>
        </p:nvCxnSpPr>
        <p:spPr>
          <a:xfrm rot="5400000">
            <a:off x="8544089" y="1711263"/>
            <a:ext cx="504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ZoneTexte 176">
            <a:extLst>
              <a:ext uri="{FF2B5EF4-FFF2-40B4-BE49-F238E27FC236}">
                <a16:creationId xmlns:a16="http://schemas.microsoft.com/office/drawing/2014/main" id="{4B9C62D5-B453-44E2-8098-C62AC9A2D262}"/>
              </a:ext>
            </a:extLst>
          </p:cNvPr>
          <p:cNvSpPr txBox="1"/>
          <p:nvPr/>
        </p:nvSpPr>
        <p:spPr>
          <a:xfrm>
            <a:off x="7780080" y="2337848"/>
            <a:ext cx="25920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300" dirty="0">
                <a:solidFill>
                  <a:schemeClr val="accent1"/>
                </a:solidFill>
                <a:latin typeface="Century Gothic" panose="020B0502020202020204" pitchFamily="34" charset="0"/>
              </a:rPr>
              <a:t>électricité </a:t>
            </a:r>
            <a:r>
              <a:rPr lang="fr-FR" sz="1300" dirty="0">
                <a:latin typeface="Century Gothic" panose="020B0502020202020204" pitchFamily="34" charset="0"/>
              </a:rPr>
              <a:t>dissipée en </a:t>
            </a:r>
            <a:r>
              <a:rPr lang="fr-FR" sz="1300" dirty="0">
                <a:solidFill>
                  <a:srgbClr val="C00000"/>
                </a:solidFill>
                <a:latin typeface="Century Gothic" panose="020B0502020202020204" pitchFamily="34" charset="0"/>
              </a:rPr>
              <a:t>chaleur</a:t>
            </a:r>
          </a:p>
        </p:txBody>
      </p:sp>
      <p:sp>
        <p:nvSpPr>
          <p:cNvPr id="178" name="ZoneTexte 177">
            <a:extLst>
              <a:ext uri="{FF2B5EF4-FFF2-40B4-BE49-F238E27FC236}">
                <a16:creationId xmlns:a16="http://schemas.microsoft.com/office/drawing/2014/main" id="{A3D7E125-270E-408F-B3B0-AA6D1EAE609A}"/>
              </a:ext>
            </a:extLst>
          </p:cNvPr>
          <p:cNvSpPr txBox="1"/>
          <p:nvPr/>
        </p:nvSpPr>
        <p:spPr>
          <a:xfrm>
            <a:off x="8466643" y="2572284"/>
            <a:ext cx="13320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300" dirty="0">
                <a:solidFill>
                  <a:schemeClr val="accent6"/>
                </a:solidFill>
                <a:latin typeface="Century Gothic" panose="020B0502020202020204" pitchFamily="34" charset="0"/>
              </a:rPr>
              <a:t>=</a:t>
            </a:r>
            <a:r>
              <a:rPr lang="fr-FR" sz="1300" b="1" dirty="0">
                <a:solidFill>
                  <a:schemeClr val="accent6"/>
                </a:solidFill>
                <a:latin typeface="Century Gothic" panose="020B0502020202020204" pitchFamily="34" charset="0"/>
              </a:rPr>
              <a:t> énergie utile</a:t>
            </a:r>
            <a:endParaRPr lang="fr-FR" sz="1300" dirty="0">
              <a:solidFill>
                <a:schemeClr val="accent6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179" name="Connecteur droit 178">
            <a:extLst>
              <a:ext uri="{FF2B5EF4-FFF2-40B4-BE49-F238E27FC236}">
                <a16:creationId xmlns:a16="http://schemas.microsoft.com/office/drawing/2014/main" id="{959F1DD6-EB08-4D77-86A5-390534B63253}"/>
              </a:ext>
            </a:extLst>
          </p:cNvPr>
          <p:cNvCxnSpPr>
            <a:cxnSpLocks/>
          </p:cNvCxnSpPr>
          <p:nvPr/>
        </p:nvCxnSpPr>
        <p:spPr>
          <a:xfrm>
            <a:off x="8800729" y="1963300"/>
            <a:ext cx="216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" name="Image 179">
            <a:extLst>
              <a:ext uri="{FF2B5EF4-FFF2-40B4-BE49-F238E27FC236}">
                <a16:creationId xmlns:a16="http://schemas.microsoft.com/office/drawing/2014/main" id="{FC63ED5E-D733-43C0-910C-E42977B6D5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1371" y="1768839"/>
            <a:ext cx="557213" cy="568643"/>
          </a:xfrm>
          <a:prstGeom prst="rect">
            <a:avLst/>
          </a:prstGeom>
        </p:spPr>
      </p:pic>
      <p:cxnSp>
        <p:nvCxnSpPr>
          <p:cNvPr id="181" name="Connecteur droit 180">
            <a:extLst>
              <a:ext uri="{FF2B5EF4-FFF2-40B4-BE49-F238E27FC236}">
                <a16:creationId xmlns:a16="http://schemas.microsoft.com/office/drawing/2014/main" id="{C70D7AC0-251F-4332-8677-EBB484D03459}"/>
              </a:ext>
            </a:extLst>
          </p:cNvPr>
          <p:cNvCxnSpPr>
            <a:cxnSpLocks/>
          </p:cNvCxnSpPr>
          <p:nvPr/>
        </p:nvCxnSpPr>
        <p:spPr>
          <a:xfrm rot="5400000">
            <a:off x="7914464" y="1321713"/>
            <a:ext cx="144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4403DA49-3B3A-43C4-953D-86F1F3EBD02F}"/>
              </a:ext>
            </a:extLst>
          </p:cNvPr>
          <p:cNvSpPr/>
          <p:nvPr/>
        </p:nvSpPr>
        <p:spPr>
          <a:xfrm>
            <a:off x="2927515" y="1501258"/>
            <a:ext cx="8640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300" b="1" dirty="0">
                <a:solidFill>
                  <a:srgbClr val="7030A0"/>
                </a:solidFill>
                <a:latin typeface="Century Gothic" panose="020B0502020202020204" pitchFamily="34" charset="0"/>
              </a:rPr>
              <a:t>énergie primaire 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5AA17F8-67FF-48F5-B7F2-69FA2D7183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16040" y="183284"/>
            <a:ext cx="3164967" cy="1753362"/>
          </a:xfrm>
          <a:prstGeom prst="rect">
            <a:avLst/>
          </a:prstGeom>
        </p:spPr>
      </p:pic>
      <p:sp>
        <p:nvSpPr>
          <p:cNvPr id="184" name="Rectangle 183">
            <a:extLst>
              <a:ext uri="{FF2B5EF4-FFF2-40B4-BE49-F238E27FC236}">
                <a16:creationId xmlns:a16="http://schemas.microsoft.com/office/drawing/2014/main" id="{C656F32A-FB75-4EC9-B6BA-1D960BE5D88D}"/>
              </a:ext>
            </a:extLst>
          </p:cNvPr>
          <p:cNvSpPr/>
          <p:nvPr/>
        </p:nvSpPr>
        <p:spPr>
          <a:xfrm>
            <a:off x="8039100" y="4417060"/>
            <a:ext cx="3708000" cy="972000"/>
          </a:xfrm>
          <a:prstGeom prst="rect">
            <a:avLst/>
          </a:prstGeom>
          <a:solidFill>
            <a:srgbClr val="FFAFAF">
              <a:alpha val="10000"/>
            </a:srgbClr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F42596E8-450A-4EA1-9FE5-7F906B148B48}"/>
              </a:ext>
            </a:extLst>
          </p:cNvPr>
          <p:cNvSpPr/>
          <p:nvPr/>
        </p:nvSpPr>
        <p:spPr>
          <a:xfrm>
            <a:off x="8175360" y="4448229"/>
            <a:ext cx="3540390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300" dirty="0">
                <a:latin typeface="Century Gothic" panose="020B0502020202020204" pitchFamily="34" charset="0"/>
              </a:rPr>
              <a:t>Avec les conventions de représentations</a:t>
            </a:r>
            <a:endParaRPr lang="fr-FR" sz="1300" dirty="0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829C2EBB-69E4-49F5-959E-8E092DBF6421}"/>
              </a:ext>
            </a:extLst>
          </p:cNvPr>
          <p:cNvSpPr>
            <a:spLocks/>
          </p:cNvSpPr>
          <p:nvPr/>
        </p:nvSpPr>
        <p:spPr>
          <a:xfrm>
            <a:off x="8220358" y="4831206"/>
            <a:ext cx="900000" cy="396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7" name="ZoneTexte 186">
            <a:extLst>
              <a:ext uri="{FF2B5EF4-FFF2-40B4-BE49-F238E27FC236}">
                <a16:creationId xmlns:a16="http://schemas.microsoft.com/office/drawing/2014/main" id="{BF2DE549-29CC-41C8-9513-5108366EDA3B}"/>
              </a:ext>
            </a:extLst>
          </p:cNvPr>
          <p:cNvSpPr txBox="1"/>
          <p:nvPr/>
        </p:nvSpPr>
        <p:spPr>
          <a:xfrm>
            <a:off x="8229600" y="4884028"/>
            <a:ext cx="9000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300" dirty="0">
                <a:latin typeface="Century Gothic" panose="020B0502020202020204" pitchFamily="34" charset="0"/>
              </a:rPr>
              <a:t>Réservoir</a:t>
            </a:r>
          </a:p>
        </p:txBody>
      </p:sp>
      <p:sp>
        <p:nvSpPr>
          <p:cNvPr id="188" name="Ellipse 187">
            <a:extLst>
              <a:ext uri="{FF2B5EF4-FFF2-40B4-BE49-F238E27FC236}">
                <a16:creationId xmlns:a16="http://schemas.microsoft.com/office/drawing/2014/main" id="{12D4063D-D632-4BC4-8F4D-8E57E52B3605}"/>
              </a:ext>
            </a:extLst>
          </p:cNvPr>
          <p:cNvSpPr/>
          <p:nvPr/>
        </p:nvSpPr>
        <p:spPr>
          <a:xfrm>
            <a:off x="9401175" y="4809088"/>
            <a:ext cx="1260000" cy="4320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9" name="ZoneTexte 188">
            <a:extLst>
              <a:ext uri="{FF2B5EF4-FFF2-40B4-BE49-F238E27FC236}">
                <a16:creationId xmlns:a16="http://schemas.microsoft.com/office/drawing/2014/main" id="{54ECE009-FAC0-4D53-B520-4DFF9137060E}"/>
              </a:ext>
            </a:extLst>
          </p:cNvPr>
          <p:cNvSpPr txBox="1"/>
          <p:nvPr/>
        </p:nvSpPr>
        <p:spPr>
          <a:xfrm>
            <a:off x="9401174" y="4874502"/>
            <a:ext cx="12600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300" dirty="0">
                <a:latin typeface="Century Gothic" panose="020B0502020202020204" pitchFamily="34" charset="0"/>
              </a:rPr>
              <a:t>Convertisseur</a:t>
            </a:r>
          </a:p>
        </p:txBody>
      </p:sp>
      <p:cxnSp>
        <p:nvCxnSpPr>
          <p:cNvPr id="190" name="Connecteur droit avec flèche 189">
            <a:extLst>
              <a:ext uri="{FF2B5EF4-FFF2-40B4-BE49-F238E27FC236}">
                <a16:creationId xmlns:a16="http://schemas.microsoft.com/office/drawing/2014/main" id="{40960CBE-2290-4A1E-AE07-0E88DF3EEF31}"/>
              </a:ext>
            </a:extLst>
          </p:cNvPr>
          <p:cNvCxnSpPr>
            <a:cxnSpLocks/>
          </p:cNvCxnSpPr>
          <p:nvPr/>
        </p:nvCxnSpPr>
        <p:spPr>
          <a:xfrm>
            <a:off x="10822946" y="5033581"/>
            <a:ext cx="828000" cy="0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ZoneTexte 190">
            <a:extLst>
              <a:ext uri="{FF2B5EF4-FFF2-40B4-BE49-F238E27FC236}">
                <a16:creationId xmlns:a16="http://schemas.microsoft.com/office/drawing/2014/main" id="{095E215C-709E-4147-84C5-124F76FD6DC0}"/>
              </a:ext>
            </a:extLst>
          </p:cNvPr>
          <p:cNvSpPr txBox="1"/>
          <p:nvPr/>
        </p:nvSpPr>
        <p:spPr>
          <a:xfrm>
            <a:off x="10934700" y="4712578"/>
            <a:ext cx="5040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300" dirty="0">
                <a:latin typeface="Century Gothic" panose="020B0502020202020204" pitchFamily="34" charset="0"/>
              </a:rPr>
              <a:t>Flux</a:t>
            </a:r>
          </a:p>
        </p:txBody>
      </p:sp>
      <p:cxnSp>
        <p:nvCxnSpPr>
          <p:cNvPr id="73" name="Connecteur droit 72">
            <a:extLst>
              <a:ext uri="{FF2B5EF4-FFF2-40B4-BE49-F238E27FC236}">
                <a16:creationId xmlns:a16="http://schemas.microsoft.com/office/drawing/2014/main" id="{2F22BE71-0F6B-4F32-8907-EA186DD47233}"/>
              </a:ext>
            </a:extLst>
          </p:cNvPr>
          <p:cNvCxnSpPr>
            <a:cxnSpLocks/>
          </p:cNvCxnSpPr>
          <p:nvPr/>
        </p:nvCxnSpPr>
        <p:spPr>
          <a:xfrm rot="5400000">
            <a:off x="7060167" y="3712586"/>
            <a:ext cx="756000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81">
            <a:extLst>
              <a:ext uri="{FF2B5EF4-FFF2-40B4-BE49-F238E27FC236}">
                <a16:creationId xmlns:a16="http://schemas.microsoft.com/office/drawing/2014/main" id="{99BAA581-6541-4FDC-8447-C4851D21BA45}"/>
              </a:ext>
            </a:extLst>
          </p:cNvPr>
          <p:cNvCxnSpPr>
            <a:cxnSpLocks/>
          </p:cNvCxnSpPr>
          <p:nvPr/>
        </p:nvCxnSpPr>
        <p:spPr>
          <a:xfrm rot="5400000">
            <a:off x="9393792" y="3684011"/>
            <a:ext cx="756000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eur droit 82">
            <a:extLst>
              <a:ext uri="{FF2B5EF4-FFF2-40B4-BE49-F238E27FC236}">
                <a16:creationId xmlns:a16="http://schemas.microsoft.com/office/drawing/2014/main" id="{CC6F38F2-6601-431E-B114-5EC98F22AE1C}"/>
              </a:ext>
            </a:extLst>
          </p:cNvPr>
          <p:cNvCxnSpPr>
            <a:cxnSpLocks/>
          </p:cNvCxnSpPr>
          <p:nvPr/>
        </p:nvCxnSpPr>
        <p:spPr>
          <a:xfrm flipH="1">
            <a:off x="7310604" y="3119819"/>
            <a:ext cx="1359605" cy="184438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eur droit 84">
            <a:extLst>
              <a:ext uri="{FF2B5EF4-FFF2-40B4-BE49-F238E27FC236}">
                <a16:creationId xmlns:a16="http://schemas.microsoft.com/office/drawing/2014/main" id="{2CF13A82-EE80-4C9E-8237-A244D686F273}"/>
              </a:ext>
            </a:extLst>
          </p:cNvPr>
          <p:cNvCxnSpPr>
            <a:cxnSpLocks/>
          </p:cNvCxnSpPr>
          <p:nvPr/>
        </p:nvCxnSpPr>
        <p:spPr>
          <a:xfrm flipH="1" flipV="1">
            <a:off x="8663155" y="3123282"/>
            <a:ext cx="1224000" cy="18000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2379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ZoneTexte 143">
            <a:extLst>
              <a:ext uri="{FF2B5EF4-FFF2-40B4-BE49-F238E27FC236}">
                <a16:creationId xmlns:a16="http://schemas.microsoft.com/office/drawing/2014/main" id="{915B1D3B-0456-46E1-994A-428FDB965882}"/>
              </a:ext>
            </a:extLst>
          </p:cNvPr>
          <p:cNvSpPr txBox="1"/>
          <p:nvPr/>
        </p:nvSpPr>
        <p:spPr>
          <a:xfrm>
            <a:off x="10315575" y="2636128"/>
            <a:ext cx="147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latin typeface="Century Gothic" panose="020B0502020202020204" pitchFamily="34" charset="0"/>
              </a:rPr>
              <a:t>Environnement</a:t>
            </a:r>
          </a:p>
        </p:txBody>
      </p:sp>
      <p:sp>
        <p:nvSpPr>
          <p:cNvPr id="72" name="Ellipse 71">
            <a:extLst>
              <a:ext uri="{FF2B5EF4-FFF2-40B4-BE49-F238E27FC236}">
                <a16:creationId xmlns:a16="http://schemas.microsoft.com/office/drawing/2014/main" id="{D996FBD4-3833-4158-9AE6-0426DAEDB1CD}"/>
              </a:ext>
            </a:extLst>
          </p:cNvPr>
          <p:cNvSpPr/>
          <p:nvPr/>
        </p:nvSpPr>
        <p:spPr>
          <a:xfrm>
            <a:off x="8305801" y="2487647"/>
            <a:ext cx="756000" cy="540000"/>
          </a:xfrm>
          <a:prstGeom prst="ellipse">
            <a:avLst/>
          </a:prstGeom>
          <a:solidFill>
            <a:srgbClr val="FFE7E7">
              <a:alpha val="60000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8D50A99A-B84B-4C46-8E35-A9F99D6FDAEB}"/>
              </a:ext>
            </a:extLst>
          </p:cNvPr>
          <p:cNvSpPr txBox="1"/>
          <p:nvPr/>
        </p:nvSpPr>
        <p:spPr>
          <a:xfrm>
            <a:off x="8342257" y="2495821"/>
            <a:ext cx="684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300" b="1" dirty="0">
                <a:latin typeface="Century Gothic" panose="020B0502020202020204" pitchFamily="34" charset="0"/>
              </a:rPr>
              <a:t>Poêle à bois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9147213C-1F6B-4C88-93F2-6556AF469E86}"/>
              </a:ext>
            </a:extLst>
          </p:cNvPr>
          <p:cNvSpPr txBox="1"/>
          <p:nvPr/>
        </p:nvSpPr>
        <p:spPr>
          <a:xfrm>
            <a:off x="5939221" y="2971128"/>
            <a:ext cx="936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300" dirty="0">
                <a:latin typeface="Century Gothic" panose="020B0502020202020204" pitchFamily="34" charset="0"/>
              </a:rPr>
              <a:t>énergie chimique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E5550CD0-991C-4D9E-8AEA-CFEBD54CBCFD}"/>
              </a:ext>
            </a:extLst>
          </p:cNvPr>
          <p:cNvSpPr txBox="1"/>
          <p:nvPr/>
        </p:nvSpPr>
        <p:spPr>
          <a:xfrm>
            <a:off x="6741007" y="2747517"/>
            <a:ext cx="1548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300" b="1" dirty="0">
                <a:solidFill>
                  <a:srgbClr val="7030A0"/>
                </a:solidFill>
                <a:latin typeface="Century Gothic" panose="020B0502020202020204" pitchFamily="34" charset="0"/>
              </a:rPr>
              <a:t>énergie primaire</a:t>
            </a:r>
            <a:r>
              <a:rPr lang="fr-FR" sz="13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 </a:t>
            </a:r>
          </a:p>
          <a:p>
            <a:pPr algn="ctr"/>
            <a:r>
              <a:rPr lang="fr-FR" sz="1300" dirty="0">
                <a:solidFill>
                  <a:srgbClr val="CDB27D"/>
                </a:solidFill>
                <a:latin typeface="Century Gothic" panose="020B0502020202020204" pitchFamily="34" charset="0"/>
              </a:rPr>
              <a:t>=</a:t>
            </a:r>
            <a:r>
              <a:rPr lang="fr-FR" sz="1300" b="1" dirty="0">
                <a:solidFill>
                  <a:srgbClr val="CDB27D"/>
                </a:solidFill>
                <a:latin typeface="Century Gothic" panose="020B0502020202020204" pitchFamily="34" charset="0"/>
              </a:rPr>
              <a:t> énergie finale</a:t>
            </a:r>
          </a:p>
        </p:txBody>
      </p:sp>
      <p:cxnSp>
        <p:nvCxnSpPr>
          <p:cNvPr id="59" name="Connecteur droit avec flèche 58">
            <a:extLst>
              <a:ext uri="{FF2B5EF4-FFF2-40B4-BE49-F238E27FC236}">
                <a16:creationId xmlns:a16="http://schemas.microsoft.com/office/drawing/2014/main" id="{D11AFCF1-5DA6-4452-86D7-E57AB08C23D3}"/>
              </a:ext>
            </a:extLst>
          </p:cNvPr>
          <p:cNvCxnSpPr>
            <a:cxnSpLocks/>
          </p:cNvCxnSpPr>
          <p:nvPr/>
        </p:nvCxnSpPr>
        <p:spPr>
          <a:xfrm>
            <a:off x="9079871" y="2776156"/>
            <a:ext cx="432000" cy="0"/>
          </a:xfrm>
          <a:prstGeom prst="straightConnector1">
            <a:avLst/>
          </a:prstGeom>
          <a:ln w="5080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ZoneTexte 76">
            <a:extLst>
              <a:ext uri="{FF2B5EF4-FFF2-40B4-BE49-F238E27FC236}">
                <a16:creationId xmlns:a16="http://schemas.microsoft.com/office/drawing/2014/main" id="{6ADFF82D-910A-4024-9A45-DAB3C8DA6AA1}"/>
              </a:ext>
            </a:extLst>
          </p:cNvPr>
          <p:cNvSpPr txBox="1"/>
          <p:nvPr/>
        </p:nvSpPr>
        <p:spPr>
          <a:xfrm>
            <a:off x="6128592" y="2581545"/>
            <a:ext cx="57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latin typeface="Century Gothic" panose="020B0502020202020204" pitchFamily="34" charset="0"/>
              </a:rPr>
              <a:t>Bois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AEC04EE4-1D7D-4238-8768-57ECADA49D0B}"/>
              </a:ext>
            </a:extLst>
          </p:cNvPr>
          <p:cNvSpPr>
            <a:spLocks/>
          </p:cNvSpPr>
          <p:nvPr/>
        </p:nvSpPr>
        <p:spPr>
          <a:xfrm>
            <a:off x="6086758" y="2545207"/>
            <a:ext cx="648000" cy="432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82" name="Connecteur droit avec flèche 81">
            <a:extLst>
              <a:ext uri="{FF2B5EF4-FFF2-40B4-BE49-F238E27FC236}">
                <a16:creationId xmlns:a16="http://schemas.microsoft.com/office/drawing/2014/main" id="{37BBD414-A19E-4A5A-86BD-4AEBCD7570D1}"/>
              </a:ext>
            </a:extLst>
          </p:cNvPr>
          <p:cNvCxnSpPr>
            <a:cxnSpLocks/>
          </p:cNvCxnSpPr>
          <p:nvPr/>
        </p:nvCxnSpPr>
        <p:spPr>
          <a:xfrm>
            <a:off x="6765296" y="2757106"/>
            <a:ext cx="1548000" cy="0"/>
          </a:xfrm>
          <a:prstGeom prst="straightConnector1">
            <a:avLst/>
          </a:prstGeom>
          <a:ln w="50800">
            <a:solidFill>
              <a:srgbClr val="C0000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onnecteur droit avec flèche 141">
            <a:extLst>
              <a:ext uri="{FF2B5EF4-FFF2-40B4-BE49-F238E27FC236}">
                <a16:creationId xmlns:a16="http://schemas.microsoft.com/office/drawing/2014/main" id="{4D14BF00-122B-4F2D-8026-6E9E83AEB9FE}"/>
              </a:ext>
            </a:extLst>
          </p:cNvPr>
          <p:cNvCxnSpPr>
            <a:cxnSpLocks/>
          </p:cNvCxnSpPr>
          <p:nvPr/>
        </p:nvCxnSpPr>
        <p:spPr>
          <a:xfrm>
            <a:off x="9800636" y="2785681"/>
            <a:ext cx="504000" cy="0"/>
          </a:xfrm>
          <a:prstGeom prst="straightConnector1">
            <a:avLst/>
          </a:prstGeom>
          <a:ln w="3810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Rectangle 142">
            <a:extLst>
              <a:ext uri="{FF2B5EF4-FFF2-40B4-BE49-F238E27FC236}">
                <a16:creationId xmlns:a16="http://schemas.microsoft.com/office/drawing/2014/main" id="{B9792F87-191F-4228-B063-B8DC77B3ED8D}"/>
              </a:ext>
            </a:extLst>
          </p:cNvPr>
          <p:cNvSpPr>
            <a:spLocks/>
          </p:cNvSpPr>
          <p:nvPr/>
        </p:nvSpPr>
        <p:spPr>
          <a:xfrm>
            <a:off x="10315858" y="2621407"/>
            <a:ext cx="1476000" cy="36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4B3DCF-36E2-41F6-8243-41C52A0E5F52}"/>
              </a:ext>
            </a:extLst>
          </p:cNvPr>
          <p:cNvSpPr/>
          <p:nvPr/>
        </p:nvSpPr>
        <p:spPr>
          <a:xfrm>
            <a:off x="8910316" y="2847933"/>
            <a:ext cx="1188000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300" b="1" dirty="0">
                <a:solidFill>
                  <a:srgbClr val="00B050"/>
                </a:solidFill>
                <a:latin typeface="Century Gothic" panose="020B0502020202020204" pitchFamily="34" charset="0"/>
              </a:rPr>
              <a:t>énergie utile</a:t>
            </a:r>
          </a:p>
        </p:txBody>
      </p:sp>
      <p:pic>
        <p:nvPicPr>
          <p:cNvPr id="111" name="Image 110">
            <a:extLst>
              <a:ext uri="{FF2B5EF4-FFF2-40B4-BE49-F238E27FC236}">
                <a16:creationId xmlns:a16="http://schemas.microsoft.com/office/drawing/2014/main" id="{47B932BB-C8CC-47A9-A67C-BDE022C83582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040334" y="2125493"/>
            <a:ext cx="926306" cy="870966"/>
          </a:xfrm>
          <a:prstGeom prst="rect">
            <a:avLst/>
          </a:prstGeom>
        </p:spPr>
      </p:pic>
      <p:sp>
        <p:nvSpPr>
          <p:cNvPr id="112" name="ZoneTexte 111">
            <a:extLst>
              <a:ext uri="{FF2B5EF4-FFF2-40B4-BE49-F238E27FC236}">
                <a16:creationId xmlns:a16="http://schemas.microsoft.com/office/drawing/2014/main" id="{AC9230D3-6020-4508-9AFA-78AD9B9F5AD5}"/>
              </a:ext>
            </a:extLst>
          </p:cNvPr>
          <p:cNvSpPr txBox="1"/>
          <p:nvPr/>
        </p:nvSpPr>
        <p:spPr>
          <a:xfrm>
            <a:off x="487306" y="2802574"/>
            <a:ext cx="900000" cy="43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Century Gothic" panose="020B0502020202020204" pitchFamily="34" charset="0"/>
              </a:rPr>
              <a:t>énergie chimique</a:t>
            </a:r>
          </a:p>
        </p:txBody>
      </p:sp>
      <p:sp>
        <p:nvSpPr>
          <p:cNvPr id="158" name="ZoneTexte 157">
            <a:extLst>
              <a:ext uri="{FF2B5EF4-FFF2-40B4-BE49-F238E27FC236}">
                <a16:creationId xmlns:a16="http://schemas.microsoft.com/office/drawing/2014/main" id="{5FBDB2C1-E7BE-4977-8593-75F39E70FCD7}"/>
              </a:ext>
            </a:extLst>
          </p:cNvPr>
          <p:cNvSpPr txBox="1"/>
          <p:nvPr/>
        </p:nvSpPr>
        <p:spPr>
          <a:xfrm>
            <a:off x="2640436" y="3014495"/>
            <a:ext cx="2772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3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chaleur </a:t>
            </a:r>
            <a:r>
              <a:rPr lang="fr-FR" sz="1300" dirty="0">
                <a:solidFill>
                  <a:srgbClr val="C00000"/>
                </a:solidFill>
                <a:latin typeface="Century Gothic" panose="020B0502020202020204" pitchFamily="34" charset="0"/>
              </a:rPr>
              <a:t>dégagée dans l’habitat</a:t>
            </a:r>
            <a:endParaRPr lang="fr-FR" sz="1300" dirty="0">
              <a:solidFill>
                <a:srgbClr val="CDB27D"/>
              </a:solidFill>
              <a:latin typeface="Century Gothic" panose="020B0502020202020204" pitchFamily="34" charset="0"/>
            </a:endParaRPr>
          </a:p>
          <a:p>
            <a:pPr algn="ctr"/>
            <a:r>
              <a:rPr lang="fr-FR" sz="1300" b="1" dirty="0">
                <a:solidFill>
                  <a:srgbClr val="57AE16"/>
                </a:solidFill>
                <a:latin typeface="Century Gothic" panose="020B0502020202020204" pitchFamily="34" charset="0"/>
              </a:rPr>
              <a:t>= énergie utile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155FB234-830C-43CD-A50A-A4B81CC7F848}"/>
              </a:ext>
            </a:extLst>
          </p:cNvPr>
          <p:cNvSpPr/>
          <p:nvPr/>
        </p:nvSpPr>
        <p:spPr>
          <a:xfrm>
            <a:off x="2937265" y="1704721"/>
            <a:ext cx="11520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100" dirty="0">
                <a:latin typeface="Century Gothic" panose="020B0502020202020204" pitchFamily="34" charset="0"/>
              </a:rPr>
              <a:t>convertisseur : poêle à bois</a:t>
            </a:r>
          </a:p>
        </p:txBody>
      </p:sp>
      <p:pic>
        <p:nvPicPr>
          <p:cNvPr id="161" name="Image 160">
            <a:extLst>
              <a:ext uri="{FF2B5EF4-FFF2-40B4-BE49-F238E27FC236}">
                <a16:creationId xmlns:a16="http://schemas.microsoft.com/office/drawing/2014/main" id="{197B5085-0DDB-4200-BD4F-059E5604E5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974" y="2251611"/>
            <a:ext cx="916781" cy="610076"/>
          </a:xfrm>
          <a:prstGeom prst="rect">
            <a:avLst/>
          </a:prstGeom>
        </p:spPr>
      </p:pic>
      <p:cxnSp>
        <p:nvCxnSpPr>
          <p:cNvPr id="163" name="Connecteur droit 162">
            <a:extLst>
              <a:ext uri="{FF2B5EF4-FFF2-40B4-BE49-F238E27FC236}">
                <a16:creationId xmlns:a16="http://schemas.microsoft.com/office/drawing/2014/main" id="{3FD8B77D-EA21-4141-8BAF-4D5B62F46F09}"/>
              </a:ext>
            </a:extLst>
          </p:cNvPr>
          <p:cNvCxnSpPr>
            <a:cxnSpLocks/>
          </p:cNvCxnSpPr>
          <p:nvPr/>
        </p:nvCxnSpPr>
        <p:spPr>
          <a:xfrm rot="5400000">
            <a:off x="2209692" y="2390861"/>
            <a:ext cx="1332000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Connecteur droit 163">
            <a:extLst>
              <a:ext uri="{FF2B5EF4-FFF2-40B4-BE49-F238E27FC236}">
                <a16:creationId xmlns:a16="http://schemas.microsoft.com/office/drawing/2014/main" id="{6F5053E7-E1D4-404C-8E31-96D0776276D4}"/>
              </a:ext>
            </a:extLst>
          </p:cNvPr>
          <p:cNvCxnSpPr>
            <a:cxnSpLocks/>
          </p:cNvCxnSpPr>
          <p:nvPr/>
        </p:nvCxnSpPr>
        <p:spPr>
          <a:xfrm flipH="1">
            <a:off x="2608338" y="1513566"/>
            <a:ext cx="1368000" cy="25200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Connecteur droit 164">
            <a:extLst>
              <a:ext uri="{FF2B5EF4-FFF2-40B4-BE49-F238E27FC236}">
                <a16:creationId xmlns:a16="http://schemas.microsoft.com/office/drawing/2014/main" id="{113D9D5B-75C6-4C22-8AF5-FAADA50535A4}"/>
              </a:ext>
            </a:extLst>
          </p:cNvPr>
          <p:cNvCxnSpPr>
            <a:cxnSpLocks/>
          </p:cNvCxnSpPr>
          <p:nvPr/>
        </p:nvCxnSpPr>
        <p:spPr>
          <a:xfrm>
            <a:off x="3990489" y="1504041"/>
            <a:ext cx="1368000" cy="28800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necteur droit 165">
            <a:extLst>
              <a:ext uri="{FF2B5EF4-FFF2-40B4-BE49-F238E27FC236}">
                <a16:creationId xmlns:a16="http://schemas.microsoft.com/office/drawing/2014/main" id="{4D4C8A23-CEA2-4914-9B02-AE3AE21B7A8C}"/>
              </a:ext>
            </a:extLst>
          </p:cNvPr>
          <p:cNvCxnSpPr>
            <a:cxnSpLocks/>
          </p:cNvCxnSpPr>
          <p:nvPr/>
        </p:nvCxnSpPr>
        <p:spPr>
          <a:xfrm rot="5400000">
            <a:off x="4476642" y="2409911"/>
            <a:ext cx="1332000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7" name="Image 166">
            <a:extLst>
              <a:ext uri="{FF2B5EF4-FFF2-40B4-BE49-F238E27FC236}">
                <a16:creationId xmlns:a16="http://schemas.microsoft.com/office/drawing/2014/main" id="{6614A29A-0911-40A4-A406-F240226F6A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7258" y="2392970"/>
            <a:ext cx="962947" cy="543201"/>
          </a:xfrm>
          <a:prstGeom prst="rect">
            <a:avLst/>
          </a:prstGeom>
        </p:spPr>
      </p:pic>
      <p:sp>
        <p:nvSpPr>
          <p:cNvPr id="168" name="ZoneTexte 167">
            <a:extLst>
              <a:ext uri="{FF2B5EF4-FFF2-40B4-BE49-F238E27FC236}">
                <a16:creationId xmlns:a16="http://schemas.microsoft.com/office/drawing/2014/main" id="{E9C52FCB-66AA-4964-9F27-9160A3137320}"/>
              </a:ext>
            </a:extLst>
          </p:cNvPr>
          <p:cNvSpPr txBox="1"/>
          <p:nvPr/>
        </p:nvSpPr>
        <p:spPr>
          <a:xfrm>
            <a:off x="499317" y="1714770"/>
            <a:ext cx="1152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latin typeface="Century Gothic" panose="020B0502020202020204" pitchFamily="34" charset="0"/>
              </a:rPr>
              <a:t>Ressource :</a:t>
            </a:r>
          </a:p>
        </p:txBody>
      </p:sp>
      <p:sp>
        <p:nvSpPr>
          <p:cNvPr id="169" name="ZoneTexte 168">
            <a:extLst>
              <a:ext uri="{FF2B5EF4-FFF2-40B4-BE49-F238E27FC236}">
                <a16:creationId xmlns:a16="http://schemas.microsoft.com/office/drawing/2014/main" id="{5DD8F148-A475-4CA0-B085-F586BDEDBE51}"/>
              </a:ext>
            </a:extLst>
          </p:cNvPr>
          <p:cNvSpPr txBox="1"/>
          <p:nvPr/>
        </p:nvSpPr>
        <p:spPr>
          <a:xfrm>
            <a:off x="727918" y="1936975"/>
            <a:ext cx="57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>
                <a:latin typeface="Century Gothic" panose="020B0502020202020204" pitchFamily="34" charset="0"/>
              </a:rPr>
              <a:t>Bois</a:t>
            </a:r>
          </a:p>
        </p:txBody>
      </p:sp>
      <p:sp>
        <p:nvSpPr>
          <p:cNvPr id="173" name="ZoneTexte 172">
            <a:extLst>
              <a:ext uri="{FF2B5EF4-FFF2-40B4-BE49-F238E27FC236}">
                <a16:creationId xmlns:a16="http://schemas.microsoft.com/office/drawing/2014/main" id="{AA1B6FCC-CF5A-4383-9C73-369549B85555}"/>
              </a:ext>
            </a:extLst>
          </p:cNvPr>
          <p:cNvSpPr txBox="1"/>
          <p:nvPr/>
        </p:nvSpPr>
        <p:spPr>
          <a:xfrm>
            <a:off x="1359382" y="2499867"/>
            <a:ext cx="1548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300" b="1" dirty="0">
                <a:solidFill>
                  <a:srgbClr val="7030A0"/>
                </a:solidFill>
                <a:latin typeface="Century Gothic" panose="020B0502020202020204" pitchFamily="34" charset="0"/>
              </a:rPr>
              <a:t>énergie primaire</a:t>
            </a:r>
            <a:r>
              <a:rPr lang="fr-FR" sz="13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 </a:t>
            </a:r>
          </a:p>
          <a:p>
            <a:pPr algn="ctr"/>
            <a:r>
              <a:rPr lang="fr-FR" sz="1300" dirty="0">
                <a:solidFill>
                  <a:srgbClr val="CDB27D"/>
                </a:solidFill>
                <a:latin typeface="Century Gothic" panose="020B0502020202020204" pitchFamily="34" charset="0"/>
              </a:rPr>
              <a:t>=</a:t>
            </a:r>
            <a:r>
              <a:rPr lang="fr-FR" sz="1300" b="1" dirty="0">
                <a:solidFill>
                  <a:srgbClr val="CDB27D"/>
                </a:solidFill>
                <a:latin typeface="Century Gothic" panose="020B0502020202020204" pitchFamily="34" charset="0"/>
              </a:rPr>
              <a:t> énergie finale</a:t>
            </a:r>
          </a:p>
        </p:txBody>
      </p:sp>
      <p:cxnSp>
        <p:nvCxnSpPr>
          <p:cNvPr id="174" name="Connecteur droit avec flèche 173">
            <a:extLst>
              <a:ext uri="{FF2B5EF4-FFF2-40B4-BE49-F238E27FC236}">
                <a16:creationId xmlns:a16="http://schemas.microsoft.com/office/drawing/2014/main" id="{D0815518-73E8-47C4-85F3-42E9AD78ECAB}"/>
              </a:ext>
            </a:extLst>
          </p:cNvPr>
          <p:cNvCxnSpPr>
            <a:cxnSpLocks/>
          </p:cNvCxnSpPr>
          <p:nvPr/>
        </p:nvCxnSpPr>
        <p:spPr>
          <a:xfrm>
            <a:off x="1421771" y="2480881"/>
            <a:ext cx="1620000" cy="0"/>
          </a:xfrm>
          <a:prstGeom prst="straightConnector1">
            <a:avLst/>
          </a:prstGeom>
          <a:ln w="5080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C0F985ED-14D6-436A-9514-BECFCB4B5843}"/>
              </a:ext>
            </a:extLst>
          </p:cNvPr>
          <p:cNvCxnSpPr>
            <a:cxnSpLocks/>
          </p:cNvCxnSpPr>
          <p:nvPr/>
        </p:nvCxnSpPr>
        <p:spPr>
          <a:xfrm rot="5400000">
            <a:off x="7861317" y="2720936"/>
            <a:ext cx="792000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94F8C6F3-2A4E-4412-AB7B-717CBF12D50F}"/>
              </a:ext>
            </a:extLst>
          </p:cNvPr>
          <p:cNvCxnSpPr>
            <a:cxnSpLocks/>
          </p:cNvCxnSpPr>
          <p:nvPr/>
        </p:nvCxnSpPr>
        <p:spPr>
          <a:xfrm>
            <a:off x="9153039" y="2142216"/>
            <a:ext cx="1008000" cy="18000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EB0230CA-A11C-4D59-949F-B729A4748ED0}"/>
              </a:ext>
            </a:extLst>
          </p:cNvPr>
          <p:cNvCxnSpPr>
            <a:cxnSpLocks/>
          </p:cNvCxnSpPr>
          <p:nvPr/>
        </p:nvCxnSpPr>
        <p:spPr>
          <a:xfrm rot="5400000">
            <a:off x="9642492" y="2701886"/>
            <a:ext cx="792000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344A2595-B4B6-4AF2-BE2B-DF05EED63C24}"/>
              </a:ext>
            </a:extLst>
          </p:cNvPr>
          <p:cNvCxnSpPr>
            <a:cxnSpLocks/>
          </p:cNvCxnSpPr>
          <p:nvPr/>
        </p:nvCxnSpPr>
        <p:spPr>
          <a:xfrm rot="9420000">
            <a:off x="8143389" y="2132691"/>
            <a:ext cx="1008000" cy="21600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avec flèche 36">
            <a:extLst>
              <a:ext uri="{FF2B5EF4-FFF2-40B4-BE49-F238E27FC236}">
                <a16:creationId xmlns:a16="http://schemas.microsoft.com/office/drawing/2014/main" id="{73BAC21B-CB59-40A0-A3A2-F1C8DD4941FC}"/>
              </a:ext>
            </a:extLst>
          </p:cNvPr>
          <p:cNvCxnSpPr>
            <a:cxnSpLocks/>
          </p:cNvCxnSpPr>
          <p:nvPr/>
        </p:nvCxnSpPr>
        <p:spPr>
          <a:xfrm rot="10800000">
            <a:off x="8676686" y="1863856"/>
            <a:ext cx="0" cy="612000"/>
          </a:xfrm>
          <a:prstGeom prst="straightConnector1">
            <a:avLst/>
          </a:prstGeom>
          <a:ln w="1905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ZoneTexte 37">
            <a:extLst>
              <a:ext uri="{FF2B5EF4-FFF2-40B4-BE49-F238E27FC236}">
                <a16:creationId xmlns:a16="http://schemas.microsoft.com/office/drawing/2014/main" id="{F3A38706-5A25-47A3-9152-FC22C0BDE15C}"/>
              </a:ext>
            </a:extLst>
          </p:cNvPr>
          <p:cNvSpPr txBox="1"/>
          <p:nvPr/>
        </p:nvSpPr>
        <p:spPr>
          <a:xfrm>
            <a:off x="8623822" y="1854069"/>
            <a:ext cx="10440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3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Q</a:t>
            </a:r>
            <a:r>
              <a:rPr lang="fr-FR" sz="1300" b="1" baseline="-25000" dirty="0">
                <a:solidFill>
                  <a:srgbClr val="C00000"/>
                </a:solidFill>
                <a:latin typeface="Century Gothic" panose="020B0502020202020204" pitchFamily="34" charset="0"/>
              </a:rPr>
              <a:t>1</a:t>
            </a:r>
            <a:r>
              <a:rPr lang="fr-FR" sz="13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 perdue</a:t>
            </a:r>
            <a:endParaRPr lang="fr-FR" sz="1300" b="1" baseline="-25000" dirty="0">
              <a:solidFill>
                <a:srgbClr val="C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FE8391DD-EF43-4065-BC39-7935449B7460}"/>
              </a:ext>
            </a:extLst>
          </p:cNvPr>
          <p:cNvSpPr txBox="1"/>
          <p:nvPr/>
        </p:nvSpPr>
        <p:spPr>
          <a:xfrm>
            <a:off x="9452498" y="2616069"/>
            <a:ext cx="4058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Q</a:t>
            </a:r>
            <a:r>
              <a:rPr lang="fr-FR" sz="1400" b="1" baseline="-25000" dirty="0">
                <a:solidFill>
                  <a:srgbClr val="C00000"/>
                </a:solidFill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6CEF3479-0DB8-4855-8C99-5DD25883EFED}"/>
              </a:ext>
            </a:extLst>
          </p:cNvPr>
          <p:cNvSpPr txBox="1"/>
          <p:nvPr/>
        </p:nvSpPr>
        <p:spPr>
          <a:xfrm>
            <a:off x="6899798" y="2444619"/>
            <a:ext cx="12240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3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Q disponible</a:t>
            </a:r>
            <a:endParaRPr lang="fr-FR" sz="1300" b="1" baseline="-25000" dirty="0">
              <a:solidFill>
                <a:srgbClr val="C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C2A441D6-4E59-4D39-A92B-B2712F295228}"/>
              </a:ext>
            </a:extLst>
          </p:cNvPr>
          <p:cNvSpPr txBox="1"/>
          <p:nvPr/>
        </p:nvSpPr>
        <p:spPr>
          <a:xfrm>
            <a:off x="8248650" y="1512178"/>
            <a:ext cx="147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latin typeface="Century Gothic" panose="020B0502020202020204" pitchFamily="34" charset="0"/>
              </a:rPr>
              <a:t>Environnement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0EA05A7-FA5B-4388-87A0-1F4B0D233B1B}"/>
              </a:ext>
            </a:extLst>
          </p:cNvPr>
          <p:cNvSpPr>
            <a:spLocks/>
          </p:cNvSpPr>
          <p:nvPr/>
        </p:nvSpPr>
        <p:spPr>
          <a:xfrm>
            <a:off x="8258458" y="1497457"/>
            <a:ext cx="1440000" cy="36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22877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Ellipse 109">
            <a:extLst>
              <a:ext uri="{FF2B5EF4-FFF2-40B4-BE49-F238E27FC236}">
                <a16:creationId xmlns:a16="http://schemas.microsoft.com/office/drawing/2014/main" id="{8E8C7D10-7814-4E52-8F0F-4BDBE09C7B6C}"/>
              </a:ext>
            </a:extLst>
          </p:cNvPr>
          <p:cNvSpPr/>
          <p:nvPr/>
        </p:nvSpPr>
        <p:spPr>
          <a:xfrm>
            <a:off x="2257425" y="3326141"/>
            <a:ext cx="3096000" cy="828000"/>
          </a:xfrm>
          <a:prstGeom prst="ellipse">
            <a:avLst/>
          </a:prstGeom>
          <a:solidFill>
            <a:srgbClr val="FFE7E7">
              <a:alpha val="20000"/>
            </a:srgbClr>
          </a:solidFill>
          <a:ln w="19050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3" name="ZoneTexte 112">
            <a:extLst>
              <a:ext uri="{FF2B5EF4-FFF2-40B4-BE49-F238E27FC236}">
                <a16:creationId xmlns:a16="http://schemas.microsoft.com/office/drawing/2014/main" id="{456553D1-83AC-4E21-995C-D9C03FC0D278}"/>
              </a:ext>
            </a:extLst>
          </p:cNvPr>
          <p:cNvSpPr txBox="1"/>
          <p:nvPr/>
        </p:nvSpPr>
        <p:spPr>
          <a:xfrm>
            <a:off x="3358659" y="3415398"/>
            <a:ext cx="72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W</a:t>
            </a:r>
            <a:r>
              <a:rPr lang="fr-FR" sz="1400" b="1" baseline="-25000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méca</a:t>
            </a:r>
            <a:endParaRPr lang="fr-FR" sz="1400" b="1" baseline="-250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114" name="Connecteur droit avec flèche 113">
            <a:extLst>
              <a:ext uri="{FF2B5EF4-FFF2-40B4-BE49-F238E27FC236}">
                <a16:creationId xmlns:a16="http://schemas.microsoft.com/office/drawing/2014/main" id="{51A44EEB-4DA3-4C8F-B3A8-AEF6DBB5E9F4}"/>
              </a:ext>
            </a:extLst>
          </p:cNvPr>
          <p:cNvCxnSpPr>
            <a:cxnSpLocks/>
          </p:cNvCxnSpPr>
          <p:nvPr/>
        </p:nvCxnSpPr>
        <p:spPr>
          <a:xfrm>
            <a:off x="3436096" y="3745879"/>
            <a:ext cx="648000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necteur droit avec flèche 114">
            <a:extLst>
              <a:ext uri="{FF2B5EF4-FFF2-40B4-BE49-F238E27FC236}">
                <a16:creationId xmlns:a16="http://schemas.microsoft.com/office/drawing/2014/main" id="{2AB7F28C-0A64-441C-82CE-CC22226BDD53}"/>
              </a:ext>
            </a:extLst>
          </p:cNvPr>
          <p:cNvCxnSpPr>
            <a:cxnSpLocks/>
          </p:cNvCxnSpPr>
          <p:nvPr/>
        </p:nvCxnSpPr>
        <p:spPr>
          <a:xfrm>
            <a:off x="5224564" y="3736354"/>
            <a:ext cx="684000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ZoneTexte 115">
            <a:extLst>
              <a:ext uri="{FF2B5EF4-FFF2-40B4-BE49-F238E27FC236}">
                <a16:creationId xmlns:a16="http://schemas.microsoft.com/office/drawing/2014/main" id="{E1BAAC35-3EAC-4F08-99DA-67AE5513DE82}"/>
              </a:ext>
            </a:extLst>
          </p:cNvPr>
          <p:cNvSpPr txBox="1"/>
          <p:nvPr/>
        </p:nvSpPr>
        <p:spPr>
          <a:xfrm>
            <a:off x="6838950" y="3762374"/>
            <a:ext cx="86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rgbClr val="CDB27D"/>
                </a:solidFill>
                <a:latin typeface="Century Gothic" panose="020B0502020202020204" pitchFamily="34" charset="0"/>
              </a:rPr>
              <a:t>énergie finale</a:t>
            </a:r>
          </a:p>
        </p:txBody>
      </p:sp>
      <p:sp>
        <p:nvSpPr>
          <p:cNvPr id="118" name="Ellipse 117">
            <a:extLst>
              <a:ext uri="{FF2B5EF4-FFF2-40B4-BE49-F238E27FC236}">
                <a16:creationId xmlns:a16="http://schemas.microsoft.com/office/drawing/2014/main" id="{C66C6A4F-C0B0-4EF0-869F-E89569A8183A}"/>
              </a:ext>
            </a:extLst>
          </p:cNvPr>
          <p:cNvSpPr/>
          <p:nvPr/>
        </p:nvSpPr>
        <p:spPr>
          <a:xfrm>
            <a:off x="2533651" y="3487772"/>
            <a:ext cx="900000" cy="504000"/>
          </a:xfrm>
          <a:prstGeom prst="ellipse">
            <a:avLst/>
          </a:prstGeom>
          <a:solidFill>
            <a:srgbClr val="FFE7E7">
              <a:alpha val="89804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19" name="Connecteur droit avec flèche 118">
            <a:extLst>
              <a:ext uri="{FF2B5EF4-FFF2-40B4-BE49-F238E27FC236}">
                <a16:creationId xmlns:a16="http://schemas.microsoft.com/office/drawing/2014/main" id="{4A639F2B-E3A6-437F-A508-0EB2697384E2}"/>
              </a:ext>
            </a:extLst>
          </p:cNvPr>
          <p:cNvCxnSpPr>
            <a:cxnSpLocks/>
          </p:cNvCxnSpPr>
          <p:nvPr/>
        </p:nvCxnSpPr>
        <p:spPr>
          <a:xfrm>
            <a:off x="1285286" y="3728656"/>
            <a:ext cx="1224000" cy="0"/>
          </a:xfrm>
          <a:prstGeom prst="straightConnector1">
            <a:avLst/>
          </a:prstGeom>
          <a:ln w="5080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ZoneTexte 120">
            <a:extLst>
              <a:ext uri="{FF2B5EF4-FFF2-40B4-BE49-F238E27FC236}">
                <a16:creationId xmlns:a16="http://schemas.microsoft.com/office/drawing/2014/main" id="{11289401-750D-4744-8AC7-A06E6EAB50FF}"/>
              </a:ext>
            </a:extLst>
          </p:cNvPr>
          <p:cNvSpPr txBox="1"/>
          <p:nvPr/>
        </p:nvSpPr>
        <p:spPr>
          <a:xfrm>
            <a:off x="2579633" y="3580728"/>
            <a:ext cx="828000" cy="324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latin typeface="Century Gothic" panose="020B0502020202020204" pitchFamily="34" charset="0"/>
              </a:rPr>
              <a:t>Turbine</a:t>
            </a:r>
          </a:p>
        </p:txBody>
      </p:sp>
      <p:cxnSp>
        <p:nvCxnSpPr>
          <p:cNvPr id="122" name="Connecteur droit avec flèche 121">
            <a:extLst>
              <a:ext uri="{FF2B5EF4-FFF2-40B4-BE49-F238E27FC236}">
                <a16:creationId xmlns:a16="http://schemas.microsoft.com/office/drawing/2014/main" id="{15AE9551-2648-48AE-A590-C698C4BDD6A2}"/>
              </a:ext>
            </a:extLst>
          </p:cNvPr>
          <p:cNvCxnSpPr>
            <a:cxnSpLocks/>
          </p:cNvCxnSpPr>
          <p:nvPr/>
        </p:nvCxnSpPr>
        <p:spPr>
          <a:xfrm>
            <a:off x="2961686" y="4014406"/>
            <a:ext cx="0" cy="756000"/>
          </a:xfrm>
          <a:prstGeom prst="straightConnector1">
            <a:avLst/>
          </a:prstGeom>
          <a:ln w="3810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Rectangle 123">
            <a:extLst>
              <a:ext uri="{FF2B5EF4-FFF2-40B4-BE49-F238E27FC236}">
                <a16:creationId xmlns:a16="http://schemas.microsoft.com/office/drawing/2014/main" id="{CEF00006-51AC-4458-9615-B6432B36865A}"/>
              </a:ext>
            </a:extLst>
          </p:cNvPr>
          <p:cNvSpPr>
            <a:spLocks/>
          </p:cNvSpPr>
          <p:nvPr/>
        </p:nvSpPr>
        <p:spPr>
          <a:xfrm>
            <a:off x="2810158" y="4774057"/>
            <a:ext cx="3708000" cy="36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BC4AADEC-6A79-4971-B053-9F220E1880B0}"/>
              </a:ext>
            </a:extLst>
          </p:cNvPr>
          <p:cNvSpPr txBox="1"/>
          <p:nvPr/>
        </p:nvSpPr>
        <p:spPr>
          <a:xfrm>
            <a:off x="2985023" y="4311519"/>
            <a:ext cx="111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chaleur Q</a:t>
            </a:r>
            <a:r>
              <a:rPr lang="fr-FR" sz="1400" b="1" baseline="-25000" dirty="0">
                <a:solidFill>
                  <a:srgbClr val="C00000"/>
                </a:solidFill>
                <a:latin typeface="Century Gothic" panose="020B0502020202020204" pitchFamily="34" charset="0"/>
              </a:rPr>
              <a:t>1</a:t>
            </a:r>
          </a:p>
        </p:txBody>
      </p:sp>
      <p:sp>
        <p:nvSpPr>
          <p:cNvPr id="126" name="ZoneTexte 125">
            <a:extLst>
              <a:ext uri="{FF2B5EF4-FFF2-40B4-BE49-F238E27FC236}">
                <a16:creationId xmlns:a16="http://schemas.microsoft.com/office/drawing/2014/main" id="{52E55978-66EA-4AE1-89D0-8FE713305797}"/>
              </a:ext>
            </a:extLst>
          </p:cNvPr>
          <p:cNvSpPr txBox="1"/>
          <p:nvPr/>
        </p:nvSpPr>
        <p:spPr>
          <a:xfrm>
            <a:off x="3838575" y="4779253"/>
            <a:ext cx="16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latin typeface="Century Gothic" panose="020B0502020202020204" pitchFamily="34" charset="0"/>
              </a:rPr>
              <a:t>Environnement</a:t>
            </a:r>
          </a:p>
        </p:txBody>
      </p:sp>
      <p:sp>
        <p:nvSpPr>
          <p:cNvPr id="127" name="Ellipse 126">
            <a:extLst>
              <a:ext uri="{FF2B5EF4-FFF2-40B4-BE49-F238E27FC236}">
                <a16:creationId xmlns:a16="http://schemas.microsoft.com/office/drawing/2014/main" id="{ED426820-1D62-427B-BBC4-0D9FCC0E3EEB}"/>
              </a:ext>
            </a:extLst>
          </p:cNvPr>
          <p:cNvSpPr/>
          <p:nvPr/>
        </p:nvSpPr>
        <p:spPr>
          <a:xfrm>
            <a:off x="4086226" y="3497297"/>
            <a:ext cx="1152000" cy="468000"/>
          </a:xfrm>
          <a:prstGeom prst="ellipse">
            <a:avLst/>
          </a:prstGeom>
          <a:solidFill>
            <a:srgbClr val="DCE5F4">
              <a:alpha val="15000"/>
            </a:srgb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FC304984-1FA2-495F-B3E6-2CFC68773915}"/>
              </a:ext>
            </a:extLst>
          </p:cNvPr>
          <p:cNvSpPr txBox="1"/>
          <p:nvPr/>
        </p:nvSpPr>
        <p:spPr>
          <a:xfrm>
            <a:off x="4083569" y="3580728"/>
            <a:ext cx="115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latin typeface="Century Gothic" panose="020B0502020202020204" pitchFamily="34" charset="0"/>
              </a:rPr>
              <a:t>Alternateur</a:t>
            </a:r>
          </a:p>
        </p:txBody>
      </p:sp>
      <p:cxnSp>
        <p:nvCxnSpPr>
          <p:cNvPr id="129" name="Connecteur droit avec flèche 128">
            <a:extLst>
              <a:ext uri="{FF2B5EF4-FFF2-40B4-BE49-F238E27FC236}">
                <a16:creationId xmlns:a16="http://schemas.microsoft.com/office/drawing/2014/main" id="{E6180097-EAA4-45A0-AC98-3E1D523218E6}"/>
              </a:ext>
            </a:extLst>
          </p:cNvPr>
          <p:cNvCxnSpPr>
            <a:cxnSpLocks/>
          </p:cNvCxnSpPr>
          <p:nvPr/>
        </p:nvCxnSpPr>
        <p:spPr>
          <a:xfrm>
            <a:off x="4676186" y="3985831"/>
            <a:ext cx="0" cy="792000"/>
          </a:xfrm>
          <a:prstGeom prst="straightConnector1">
            <a:avLst/>
          </a:prstGeom>
          <a:ln w="3810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ZoneTexte 129">
            <a:extLst>
              <a:ext uri="{FF2B5EF4-FFF2-40B4-BE49-F238E27FC236}">
                <a16:creationId xmlns:a16="http://schemas.microsoft.com/office/drawing/2014/main" id="{AF8EA02E-7AA5-494A-B1A8-465D3448DCCC}"/>
              </a:ext>
            </a:extLst>
          </p:cNvPr>
          <p:cNvSpPr txBox="1"/>
          <p:nvPr/>
        </p:nvSpPr>
        <p:spPr>
          <a:xfrm>
            <a:off x="4670948" y="4311519"/>
            <a:ext cx="111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chaleur Q</a:t>
            </a:r>
            <a:r>
              <a:rPr lang="fr-FR" sz="1400" b="1" baseline="-25000" dirty="0">
                <a:solidFill>
                  <a:srgbClr val="C00000"/>
                </a:solidFill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132" name="ZoneTexte 131">
            <a:extLst>
              <a:ext uri="{FF2B5EF4-FFF2-40B4-BE49-F238E27FC236}">
                <a16:creationId xmlns:a16="http://schemas.microsoft.com/office/drawing/2014/main" id="{FBECF47B-90E4-4DB7-9095-28191F435F57}"/>
              </a:ext>
            </a:extLst>
          </p:cNvPr>
          <p:cNvSpPr txBox="1"/>
          <p:nvPr/>
        </p:nvSpPr>
        <p:spPr>
          <a:xfrm>
            <a:off x="5282709" y="3424923"/>
            <a:ext cx="61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W</a:t>
            </a:r>
            <a:r>
              <a:rPr lang="fr-FR" sz="1400" b="1" baseline="-25000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élec</a:t>
            </a:r>
            <a:endParaRPr lang="fr-FR" sz="1400" b="1" baseline="-250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133" name="Ellipse 132">
            <a:extLst>
              <a:ext uri="{FF2B5EF4-FFF2-40B4-BE49-F238E27FC236}">
                <a16:creationId xmlns:a16="http://schemas.microsoft.com/office/drawing/2014/main" id="{F689733E-6432-4B3E-BC29-A7D8430A49AE}"/>
              </a:ext>
            </a:extLst>
          </p:cNvPr>
          <p:cNvSpPr/>
          <p:nvPr/>
        </p:nvSpPr>
        <p:spPr>
          <a:xfrm>
            <a:off x="5924551" y="3478247"/>
            <a:ext cx="1008000" cy="504000"/>
          </a:xfrm>
          <a:prstGeom prst="ellipse">
            <a:avLst/>
          </a:prstGeom>
          <a:solidFill>
            <a:srgbClr val="DCE5F4">
              <a:alpha val="15000"/>
            </a:srgb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9102972F-442F-4D93-A0FD-C040998D15FC}"/>
              </a:ext>
            </a:extLst>
          </p:cNvPr>
          <p:cNvSpPr txBox="1"/>
          <p:nvPr/>
        </p:nvSpPr>
        <p:spPr>
          <a:xfrm>
            <a:off x="5940944" y="3447378"/>
            <a:ext cx="1008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300" b="1" dirty="0">
                <a:latin typeface="Century Gothic" panose="020B0502020202020204" pitchFamily="34" charset="0"/>
              </a:rPr>
              <a:t>Réseau électrique</a:t>
            </a:r>
          </a:p>
        </p:txBody>
      </p:sp>
      <p:cxnSp>
        <p:nvCxnSpPr>
          <p:cNvPr id="135" name="Connecteur droit avec flèche 134">
            <a:extLst>
              <a:ext uri="{FF2B5EF4-FFF2-40B4-BE49-F238E27FC236}">
                <a16:creationId xmlns:a16="http://schemas.microsoft.com/office/drawing/2014/main" id="{FEE65000-7B21-4667-A741-521F89434866}"/>
              </a:ext>
            </a:extLst>
          </p:cNvPr>
          <p:cNvCxnSpPr>
            <a:cxnSpLocks/>
          </p:cNvCxnSpPr>
          <p:nvPr/>
        </p:nvCxnSpPr>
        <p:spPr>
          <a:xfrm>
            <a:off x="6958114" y="3736354"/>
            <a:ext cx="828000" cy="0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ZoneTexte 135">
            <a:extLst>
              <a:ext uri="{FF2B5EF4-FFF2-40B4-BE49-F238E27FC236}">
                <a16:creationId xmlns:a16="http://schemas.microsoft.com/office/drawing/2014/main" id="{D6AC336F-802E-44C9-AEDE-869A0E14855B}"/>
              </a:ext>
            </a:extLst>
          </p:cNvPr>
          <p:cNvSpPr txBox="1"/>
          <p:nvPr/>
        </p:nvSpPr>
        <p:spPr>
          <a:xfrm>
            <a:off x="6911484" y="3415398"/>
            <a:ext cx="72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W</a:t>
            </a:r>
            <a:r>
              <a:rPr lang="fr-FR" sz="1400" b="1" baseline="-25000" dirty="0">
                <a:solidFill>
                  <a:schemeClr val="accent1"/>
                </a:solidFill>
                <a:latin typeface="Century Gothic" panose="020B0502020202020204" pitchFamily="34" charset="0"/>
              </a:rPr>
              <a:t>2 élec</a:t>
            </a:r>
          </a:p>
        </p:txBody>
      </p:sp>
      <p:cxnSp>
        <p:nvCxnSpPr>
          <p:cNvPr id="137" name="Connecteur droit avec flèche 136">
            <a:extLst>
              <a:ext uri="{FF2B5EF4-FFF2-40B4-BE49-F238E27FC236}">
                <a16:creationId xmlns:a16="http://schemas.microsoft.com/office/drawing/2014/main" id="{39B5D892-7252-43AB-8B57-0833799D1750}"/>
              </a:ext>
            </a:extLst>
          </p:cNvPr>
          <p:cNvCxnSpPr>
            <a:cxnSpLocks/>
          </p:cNvCxnSpPr>
          <p:nvPr/>
        </p:nvCxnSpPr>
        <p:spPr>
          <a:xfrm>
            <a:off x="6428786" y="4014406"/>
            <a:ext cx="0" cy="756000"/>
          </a:xfrm>
          <a:prstGeom prst="straightConnector1">
            <a:avLst/>
          </a:prstGeom>
          <a:ln w="3810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ZoneTexte 137">
            <a:extLst>
              <a:ext uri="{FF2B5EF4-FFF2-40B4-BE49-F238E27FC236}">
                <a16:creationId xmlns:a16="http://schemas.microsoft.com/office/drawing/2014/main" id="{F3A0B5EA-B1F5-4536-B3F7-30308CD4CE68}"/>
              </a:ext>
            </a:extLst>
          </p:cNvPr>
          <p:cNvSpPr txBox="1"/>
          <p:nvPr/>
        </p:nvSpPr>
        <p:spPr>
          <a:xfrm>
            <a:off x="6442598" y="4330569"/>
            <a:ext cx="111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chaleur Q</a:t>
            </a:r>
            <a:r>
              <a:rPr lang="fr-FR" sz="1400" b="1" baseline="-25000" dirty="0">
                <a:solidFill>
                  <a:srgbClr val="C00000"/>
                </a:solidFill>
                <a:latin typeface="Century Gothic" panose="020B0502020202020204" pitchFamily="34" charset="0"/>
              </a:rPr>
              <a:t>3</a:t>
            </a:r>
          </a:p>
        </p:txBody>
      </p:sp>
      <p:sp>
        <p:nvSpPr>
          <p:cNvPr id="146" name="Ellipse 145">
            <a:extLst>
              <a:ext uri="{FF2B5EF4-FFF2-40B4-BE49-F238E27FC236}">
                <a16:creationId xmlns:a16="http://schemas.microsoft.com/office/drawing/2014/main" id="{9B51B500-9AAF-42CD-A488-C310CE995771}"/>
              </a:ext>
            </a:extLst>
          </p:cNvPr>
          <p:cNvSpPr/>
          <p:nvPr/>
        </p:nvSpPr>
        <p:spPr>
          <a:xfrm>
            <a:off x="7772401" y="3449672"/>
            <a:ext cx="972000" cy="576000"/>
          </a:xfrm>
          <a:prstGeom prst="ellipse">
            <a:avLst/>
          </a:prstGeom>
          <a:solidFill>
            <a:srgbClr val="DCE5F4">
              <a:alpha val="15000"/>
            </a:srgb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9E1616C4-B27E-4A77-BA99-7DADBA6E3DEC}"/>
              </a:ext>
            </a:extLst>
          </p:cNvPr>
          <p:cNvSpPr txBox="1"/>
          <p:nvPr/>
        </p:nvSpPr>
        <p:spPr>
          <a:xfrm>
            <a:off x="7769744" y="3495002"/>
            <a:ext cx="1008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300" b="1" dirty="0">
                <a:latin typeface="Century Gothic" panose="020B0502020202020204" pitchFamily="34" charset="0"/>
              </a:rPr>
              <a:t>Pompe à chaleur</a:t>
            </a:r>
          </a:p>
        </p:txBody>
      </p:sp>
      <p:sp>
        <p:nvSpPr>
          <p:cNvPr id="148" name="ZoneTexte 147">
            <a:extLst>
              <a:ext uri="{FF2B5EF4-FFF2-40B4-BE49-F238E27FC236}">
                <a16:creationId xmlns:a16="http://schemas.microsoft.com/office/drawing/2014/main" id="{40A92DF1-274D-4C32-B58C-DCA96A576735}"/>
              </a:ext>
            </a:extLst>
          </p:cNvPr>
          <p:cNvSpPr txBox="1"/>
          <p:nvPr/>
        </p:nvSpPr>
        <p:spPr>
          <a:xfrm>
            <a:off x="8693633" y="3831355"/>
            <a:ext cx="1332000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>
                <a:solidFill>
                  <a:srgbClr val="00B050"/>
                </a:solidFill>
                <a:latin typeface="Century Gothic" panose="020B0502020202020204" pitchFamily="34" charset="0"/>
              </a:rPr>
              <a:t>= énergie utile</a:t>
            </a:r>
          </a:p>
          <a:p>
            <a:pPr algn="ctr"/>
            <a:r>
              <a:rPr lang="fr-FR" sz="12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Q</a:t>
            </a:r>
            <a:r>
              <a:rPr lang="fr-FR" sz="1200" b="1" baseline="-25000" dirty="0">
                <a:solidFill>
                  <a:srgbClr val="C00000"/>
                </a:solidFill>
                <a:latin typeface="Century Gothic" panose="020B0502020202020204" pitchFamily="34" charset="0"/>
              </a:rPr>
              <a:t>4 </a:t>
            </a:r>
            <a:r>
              <a:rPr lang="fr-FR" sz="1200" dirty="0">
                <a:latin typeface="Century Gothic" panose="020B0502020202020204" pitchFamily="34" charset="0"/>
              </a:rPr>
              <a:t>transférée +</a:t>
            </a:r>
            <a:r>
              <a:rPr lang="fr-FR" sz="12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 </a:t>
            </a:r>
            <a:r>
              <a:rPr lang="fr-FR" sz="12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W</a:t>
            </a:r>
            <a:r>
              <a:rPr lang="fr-FR" sz="1200" b="1" baseline="-25000" dirty="0">
                <a:solidFill>
                  <a:schemeClr val="accent1"/>
                </a:solidFill>
                <a:latin typeface="Century Gothic" panose="020B0502020202020204" pitchFamily="34" charset="0"/>
              </a:rPr>
              <a:t>2 élec </a:t>
            </a:r>
            <a:r>
              <a:rPr lang="fr-FR" sz="1300" dirty="0">
                <a:latin typeface="Century Gothic" panose="020B0502020202020204" pitchFamily="34" charset="0"/>
              </a:rPr>
              <a:t>dissipée</a:t>
            </a:r>
            <a:endParaRPr lang="fr-FR" sz="1300" b="1" dirty="0">
              <a:solidFill>
                <a:srgbClr val="00B050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149" name="Connecteur droit avec flèche 148">
            <a:extLst>
              <a:ext uri="{FF2B5EF4-FFF2-40B4-BE49-F238E27FC236}">
                <a16:creationId xmlns:a16="http://schemas.microsoft.com/office/drawing/2014/main" id="{1276E24E-A08C-4E8A-A54E-7586C54B9AEB}"/>
              </a:ext>
            </a:extLst>
          </p:cNvPr>
          <p:cNvCxnSpPr>
            <a:cxnSpLocks/>
          </p:cNvCxnSpPr>
          <p:nvPr/>
        </p:nvCxnSpPr>
        <p:spPr>
          <a:xfrm>
            <a:off x="8765546" y="3747706"/>
            <a:ext cx="576000" cy="0"/>
          </a:xfrm>
          <a:prstGeom prst="straightConnector1">
            <a:avLst/>
          </a:prstGeom>
          <a:ln w="5080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ZoneTexte 149">
            <a:extLst>
              <a:ext uri="{FF2B5EF4-FFF2-40B4-BE49-F238E27FC236}">
                <a16:creationId xmlns:a16="http://schemas.microsoft.com/office/drawing/2014/main" id="{80A39F95-A060-4CEA-B398-313E02D7DA35}"/>
              </a:ext>
            </a:extLst>
          </p:cNvPr>
          <p:cNvSpPr txBox="1"/>
          <p:nvPr/>
        </p:nvSpPr>
        <p:spPr>
          <a:xfrm>
            <a:off x="9300098" y="3587619"/>
            <a:ext cx="43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Q</a:t>
            </a:r>
            <a:r>
              <a:rPr lang="fr-FR" sz="1400" b="1" baseline="-25000" dirty="0">
                <a:solidFill>
                  <a:srgbClr val="C00000"/>
                </a:solidFill>
                <a:latin typeface="Century Gothic" panose="020B0502020202020204" pitchFamily="34" charset="0"/>
              </a:rPr>
              <a:t>5</a:t>
            </a:r>
          </a:p>
        </p:txBody>
      </p:sp>
      <p:cxnSp>
        <p:nvCxnSpPr>
          <p:cNvPr id="151" name="Connecteur droit avec flèche 150">
            <a:extLst>
              <a:ext uri="{FF2B5EF4-FFF2-40B4-BE49-F238E27FC236}">
                <a16:creationId xmlns:a16="http://schemas.microsoft.com/office/drawing/2014/main" id="{7FC43420-E218-40B0-92A3-2D5D00CA7489}"/>
              </a:ext>
            </a:extLst>
          </p:cNvPr>
          <p:cNvCxnSpPr>
            <a:cxnSpLocks/>
          </p:cNvCxnSpPr>
          <p:nvPr/>
        </p:nvCxnSpPr>
        <p:spPr>
          <a:xfrm>
            <a:off x="9695861" y="3757231"/>
            <a:ext cx="612000" cy="0"/>
          </a:xfrm>
          <a:prstGeom prst="straightConnector1">
            <a:avLst/>
          </a:prstGeom>
          <a:ln w="3810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Rectangle 151">
            <a:extLst>
              <a:ext uri="{FF2B5EF4-FFF2-40B4-BE49-F238E27FC236}">
                <a16:creationId xmlns:a16="http://schemas.microsoft.com/office/drawing/2014/main" id="{657D2626-7F8B-497E-8BC2-8F4834BFCF00}"/>
              </a:ext>
            </a:extLst>
          </p:cNvPr>
          <p:cNvSpPr>
            <a:spLocks/>
          </p:cNvSpPr>
          <p:nvPr/>
        </p:nvSpPr>
        <p:spPr>
          <a:xfrm>
            <a:off x="10306333" y="3583432"/>
            <a:ext cx="1728000" cy="36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3" name="ZoneTexte 152">
            <a:extLst>
              <a:ext uri="{FF2B5EF4-FFF2-40B4-BE49-F238E27FC236}">
                <a16:creationId xmlns:a16="http://schemas.microsoft.com/office/drawing/2014/main" id="{901140F0-FFA7-4294-AA0E-75D67D01AE9D}"/>
              </a:ext>
            </a:extLst>
          </p:cNvPr>
          <p:cNvSpPr txBox="1"/>
          <p:nvPr/>
        </p:nvSpPr>
        <p:spPr>
          <a:xfrm>
            <a:off x="10315575" y="3588628"/>
            <a:ext cx="16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latin typeface="Century Gothic" panose="020B0502020202020204" pitchFamily="34" charset="0"/>
              </a:rPr>
              <a:t>Environnement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42ECA568-E059-46F5-9893-1EDEACB07630}"/>
              </a:ext>
            </a:extLst>
          </p:cNvPr>
          <p:cNvSpPr>
            <a:spLocks/>
          </p:cNvSpPr>
          <p:nvPr/>
        </p:nvSpPr>
        <p:spPr>
          <a:xfrm>
            <a:off x="7782208" y="4783582"/>
            <a:ext cx="1728000" cy="36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5" name="ZoneTexte 154">
            <a:extLst>
              <a:ext uri="{FF2B5EF4-FFF2-40B4-BE49-F238E27FC236}">
                <a16:creationId xmlns:a16="http://schemas.microsoft.com/office/drawing/2014/main" id="{50D0B40F-A475-46A2-960C-FB3BAF9A59C7}"/>
              </a:ext>
            </a:extLst>
          </p:cNvPr>
          <p:cNvSpPr txBox="1"/>
          <p:nvPr/>
        </p:nvSpPr>
        <p:spPr>
          <a:xfrm>
            <a:off x="7800975" y="4779253"/>
            <a:ext cx="16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latin typeface="Century Gothic" panose="020B0502020202020204" pitchFamily="34" charset="0"/>
              </a:rPr>
              <a:t>Environnement</a:t>
            </a:r>
          </a:p>
        </p:txBody>
      </p:sp>
      <p:cxnSp>
        <p:nvCxnSpPr>
          <p:cNvPr id="156" name="Connecteur droit avec flèche 155">
            <a:extLst>
              <a:ext uri="{FF2B5EF4-FFF2-40B4-BE49-F238E27FC236}">
                <a16:creationId xmlns:a16="http://schemas.microsoft.com/office/drawing/2014/main" id="{FF07EFB8-18B4-4DAF-A1C0-8ACCA568F543}"/>
              </a:ext>
            </a:extLst>
          </p:cNvPr>
          <p:cNvCxnSpPr>
            <a:cxnSpLocks/>
          </p:cNvCxnSpPr>
          <p:nvPr/>
        </p:nvCxnSpPr>
        <p:spPr>
          <a:xfrm rot="10800000">
            <a:off x="8257586" y="4020706"/>
            <a:ext cx="0" cy="756000"/>
          </a:xfrm>
          <a:prstGeom prst="straightConnector1">
            <a:avLst/>
          </a:prstGeom>
          <a:ln w="3810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ZoneTexte 156">
            <a:extLst>
              <a:ext uri="{FF2B5EF4-FFF2-40B4-BE49-F238E27FC236}">
                <a16:creationId xmlns:a16="http://schemas.microsoft.com/office/drawing/2014/main" id="{2452A2B9-D925-4DC8-B92C-51B566CF7008}"/>
              </a:ext>
            </a:extLst>
          </p:cNvPr>
          <p:cNvSpPr txBox="1"/>
          <p:nvPr/>
        </p:nvSpPr>
        <p:spPr>
          <a:xfrm>
            <a:off x="8233298" y="4482969"/>
            <a:ext cx="43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Q</a:t>
            </a:r>
            <a:r>
              <a:rPr lang="fr-FR" sz="1400" b="1" baseline="-25000" dirty="0">
                <a:solidFill>
                  <a:srgbClr val="C00000"/>
                </a:solidFill>
                <a:latin typeface="Century Gothic" panose="020B0502020202020204" pitchFamily="34" charset="0"/>
              </a:rPr>
              <a:t>4</a:t>
            </a:r>
          </a:p>
        </p:txBody>
      </p:sp>
      <p:sp>
        <p:nvSpPr>
          <p:cNvPr id="111" name="ZoneTexte 110">
            <a:extLst>
              <a:ext uri="{FF2B5EF4-FFF2-40B4-BE49-F238E27FC236}">
                <a16:creationId xmlns:a16="http://schemas.microsoft.com/office/drawing/2014/main" id="{815E479E-BC41-48BA-AD49-E2B2F070C22F}"/>
              </a:ext>
            </a:extLst>
          </p:cNvPr>
          <p:cNvSpPr txBox="1"/>
          <p:nvPr/>
        </p:nvSpPr>
        <p:spPr>
          <a:xfrm>
            <a:off x="1223217" y="686070"/>
            <a:ext cx="1152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latin typeface="Century Gothic" panose="020B0502020202020204" pitchFamily="34" charset="0"/>
              </a:rPr>
              <a:t>Ressource :</a:t>
            </a:r>
          </a:p>
        </p:txBody>
      </p:sp>
      <p:sp>
        <p:nvSpPr>
          <p:cNvPr id="112" name="ZoneTexte 111">
            <a:extLst>
              <a:ext uri="{FF2B5EF4-FFF2-40B4-BE49-F238E27FC236}">
                <a16:creationId xmlns:a16="http://schemas.microsoft.com/office/drawing/2014/main" id="{47014643-0F92-4E8B-86AE-418684C94619}"/>
              </a:ext>
            </a:extLst>
          </p:cNvPr>
          <p:cNvSpPr txBox="1"/>
          <p:nvPr/>
        </p:nvSpPr>
        <p:spPr>
          <a:xfrm>
            <a:off x="1451818" y="936850"/>
            <a:ext cx="57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>
                <a:latin typeface="Century Gothic" panose="020B0502020202020204" pitchFamily="34" charset="0"/>
              </a:rPr>
              <a:t>Bois</a:t>
            </a:r>
          </a:p>
        </p:txBody>
      </p:sp>
      <p:cxnSp>
        <p:nvCxnSpPr>
          <p:cNvPr id="158" name="Connecteur droit avec flèche 157">
            <a:extLst>
              <a:ext uri="{FF2B5EF4-FFF2-40B4-BE49-F238E27FC236}">
                <a16:creationId xmlns:a16="http://schemas.microsoft.com/office/drawing/2014/main" id="{A30CFF58-3424-4DE1-B5E5-23BA135A4345}"/>
              </a:ext>
            </a:extLst>
          </p:cNvPr>
          <p:cNvCxnSpPr>
            <a:cxnSpLocks/>
          </p:cNvCxnSpPr>
          <p:nvPr/>
        </p:nvCxnSpPr>
        <p:spPr>
          <a:xfrm>
            <a:off x="2172923" y="1517029"/>
            <a:ext cx="1044000" cy="0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Rectangle 158">
            <a:extLst>
              <a:ext uri="{FF2B5EF4-FFF2-40B4-BE49-F238E27FC236}">
                <a16:creationId xmlns:a16="http://schemas.microsoft.com/office/drawing/2014/main" id="{6A30A5AA-000E-47B4-B1C8-C9FB587EA55D}"/>
              </a:ext>
            </a:extLst>
          </p:cNvPr>
          <p:cNvSpPr/>
          <p:nvPr/>
        </p:nvSpPr>
        <p:spPr>
          <a:xfrm>
            <a:off x="4998529" y="2077417"/>
            <a:ext cx="1620000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300" b="1" dirty="0">
                <a:latin typeface="Century Gothic" panose="020B0502020202020204" pitchFamily="34" charset="0"/>
              </a:rPr>
              <a:t>réseau électrique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5907FC5F-2072-41BE-BF77-957C4B340D1B}"/>
              </a:ext>
            </a:extLst>
          </p:cNvPr>
          <p:cNvSpPr txBox="1"/>
          <p:nvPr/>
        </p:nvSpPr>
        <p:spPr>
          <a:xfrm>
            <a:off x="1226936" y="1790541"/>
            <a:ext cx="9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Century Gothic" panose="020B0502020202020204" pitchFamily="34" charset="0"/>
              </a:rPr>
              <a:t>énergie chimique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25D7CD02-165B-43A8-B840-5DCDF47C9EA0}"/>
              </a:ext>
            </a:extLst>
          </p:cNvPr>
          <p:cNvSpPr/>
          <p:nvPr/>
        </p:nvSpPr>
        <p:spPr>
          <a:xfrm>
            <a:off x="3199914" y="2080456"/>
            <a:ext cx="1728000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300" b="1" dirty="0">
                <a:latin typeface="Century Gothic" panose="020B0502020202020204" pitchFamily="34" charset="0"/>
              </a:rPr>
              <a:t>centrale thermique</a:t>
            </a:r>
          </a:p>
        </p:txBody>
      </p:sp>
      <p:pic>
        <p:nvPicPr>
          <p:cNvPr id="162" name="Image 161">
            <a:extLst>
              <a:ext uri="{FF2B5EF4-FFF2-40B4-BE49-F238E27FC236}">
                <a16:creationId xmlns:a16="http://schemas.microsoft.com/office/drawing/2014/main" id="{14CD783F-1FFF-48E2-8C7D-4D3B97B0F0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1124" y="1227541"/>
            <a:ext cx="916781" cy="610076"/>
          </a:xfrm>
          <a:prstGeom prst="rect">
            <a:avLst/>
          </a:prstGeom>
        </p:spPr>
      </p:pic>
      <p:cxnSp>
        <p:nvCxnSpPr>
          <p:cNvPr id="163" name="Connecteur droit 162">
            <a:extLst>
              <a:ext uri="{FF2B5EF4-FFF2-40B4-BE49-F238E27FC236}">
                <a16:creationId xmlns:a16="http://schemas.microsoft.com/office/drawing/2014/main" id="{30D75221-1E1F-4696-8A6B-BC128977671C}"/>
              </a:ext>
            </a:extLst>
          </p:cNvPr>
          <p:cNvCxnSpPr/>
          <p:nvPr/>
        </p:nvCxnSpPr>
        <p:spPr>
          <a:xfrm>
            <a:off x="6476629" y="1334650"/>
            <a:ext cx="792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4" name="Image 163">
            <a:extLst>
              <a:ext uri="{FF2B5EF4-FFF2-40B4-BE49-F238E27FC236}">
                <a16:creationId xmlns:a16="http://schemas.microsoft.com/office/drawing/2014/main" id="{54C031E0-30C1-4C07-8152-8B8FAE3D28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5179" y="1663056"/>
            <a:ext cx="233192" cy="246910"/>
          </a:xfrm>
          <a:prstGeom prst="rect">
            <a:avLst/>
          </a:prstGeom>
        </p:spPr>
      </p:pic>
      <p:cxnSp>
        <p:nvCxnSpPr>
          <p:cNvPr id="165" name="Connecteur droit 164">
            <a:extLst>
              <a:ext uri="{FF2B5EF4-FFF2-40B4-BE49-F238E27FC236}">
                <a16:creationId xmlns:a16="http://schemas.microsoft.com/office/drawing/2014/main" id="{3135FE99-E583-4B7C-A668-65EAF76DDBC7}"/>
              </a:ext>
            </a:extLst>
          </p:cNvPr>
          <p:cNvCxnSpPr>
            <a:cxnSpLocks/>
          </p:cNvCxnSpPr>
          <p:nvPr/>
        </p:nvCxnSpPr>
        <p:spPr>
          <a:xfrm rot="5400000">
            <a:off x="6619842" y="1885961"/>
            <a:ext cx="1008000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necteur droit 165">
            <a:extLst>
              <a:ext uri="{FF2B5EF4-FFF2-40B4-BE49-F238E27FC236}">
                <a16:creationId xmlns:a16="http://schemas.microsoft.com/office/drawing/2014/main" id="{725DF27D-8326-4A7A-BCB6-CC39314C0D1F}"/>
              </a:ext>
            </a:extLst>
          </p:cNvPr>
          <p:cNvCxnSpPr>
            <a:cxnSpLocks/>
          </p:cNvCxnSpPr>
          <p:nvPr/>
        </p:nvCxnSpPr>
        <p:spPr>
          <a:xfrm rot="5400000">
            <a:off x="8667717" y="1933586"/>
            <a:ext cx="1008000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Connecteur droit 166">
            <a:extLst>
              <a:ext uri="{FF2B5EF4-FFF2-40B4-BE49-F238E27FC236}">
                <a16:creationId xmlns:a16="http://schemas.microsoft.com/office/drawing/2014/main" id="{8B445E8A-5922-4EA8-8FC6-63B1B9BF31C2}"/>
              </a:ext>
            </a:extLst>
          </p:cNvPr>
          <p:cNvCxnSpPr>
            <a:cxnSpLocks/>
          </p:cNvCxnSpPr>
          <p:nvPr/>
        </p:nvCxnSpPr>
        <p:spPr>
          <a:xfrm flipH="1">
            <a:off x="6961264" y="1019175"/>
            <a:ext cx="1209344" cy="432347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Connecteur droit 167">
            <a:extLst>
              <a:ext uri="{FF2B5EF4-FFF2-40B4-BE49-F238E27FC236}">
                <a16:creationId xmlns:a16="http://schemas.microsoft.com/office/drawing/2014/main" id="{C1C81929-0D88-425D-9F5E-CD903C65540E}"/>
              </a:ext>
            </a:extLst>
          </p:cNvPr>
          <p:cNvCxnSpPr>
            <a:cxnSpLocks/>
          </p:cNvCxnSpPr>
          <p:nvPr/>
        </p:nvCxnSpPr>
        <p:spPr>
          <a:xfrm>
            <a:off x="8191014" y="1019175"/>
            <a:ext cx="1124436" cy="434331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9" name="Image 168">
            <a:extLst>
              <a:ext uri="{FF2B5EF4-FFF2-40B4-BE49-F238E27FC236}">
                <a16:creationId xmlns:a16="http://schemas.microsoft.com/office/drawing/2014/main" id="{B7B87C6D-BE39-47BA-A367-EBA51E3F2C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0984" y="1935772"/>
            <a:ext cx="792000" cy="446769"/>
          </a:xfrm>
          <a:prstGeom prst="rect">
            <a:avLst/>
          </a:prstGeom>
        </p:spPr>
      </p:pic>
      <p:sp>
        <p:nvSpPr>
          <p:cNvPr id="170" name="ZoneTexte 169">
            <a:extLst>
              <a:ext uri="{FF2B5EF4-FFF2-40B4-BE49-F238E27FC236}">
                <a16:creationId xmlns:a16="http://schemas.microsoft.com/office/drawing/2014/main" id="{B62EF57E-2D8E-4FE2-97EF-80363D7686DE}"/>
              </a:ext>
            </a:extLst>
          </p:cNvPr>
          <p:cNvSpPr txBox="1"/>
          <p:nvPr/>
        </p:nvSpPr>
        <p:spPr>
          <a:xfrm>
            <a:off x="6366510" y="502905"/>
            <a:ext cx="1440000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300" dirty="0">
                <a:solidFill>
                  <a:schemeClr val="accent1"/>
                </a:solidFill>
                <a:latin typeface="Century Gothic" panose="020B0502020202020204" pitchFamily="34" charset="0"/>
              </a:rPr>
              <a:t>électricité</a:t>
            </a:r>
            <a:r>
              <a:rPr lang="fr-FR" sz="1300" dirty="0">
                <a:latin typeface="Century Gothic" panose="020B0502020202020204" pitchFamily="34" charset="0"/>
              </a:rPr>
              <a:t> au compteur</a:t>
            </a:r>
          </a:p>
          <a:p>
            <a:pPr algn="ctr"/>
            <a:r>
              <a:rPr lang="fr-FR" sz="1300" dirty="0">
                <a:solidFill>
                  <a:srgbClr val="CDB27D"/>
                </a:solidFill>
                <a:latin typeface="Century Gothic" panose="020B0502020202020204" pitchFamily="34" charset="0"/>
              </a:rPr>
              <a:t>=</a:t>
            </a:r>
            <a:r>
              <a:rPr lang="fr-FR" sz="1300" b="1" dirty="0">
                <a:solidFill>
                  <a:srgbClr val="CDB27D"/>
                </a:solidFill>
                <a:latin typeface="Century Gothic" panose="020B0502020202020204" pitchFamily="34" charset="0"/>
              </a:rPr>
              <a:t> énergie finale</a:t>
            </a:r>
            <a:endParaRPr lang="fr-FR" sz="1300" dirty="0">
              <a:solidFill>
                <a:srgbClr val="CDB27D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171" name="Connecteur droit 170">
            <a:extLst>
              <a:ext uri="{FF2B5EF4-FFF2-40B4-BE49-F238E27FC236}">
                <a16:creationId xmlns:a16="http://schemas.microsoft.com/office/drawing/2014/main" id="{A1741ADE-F19E-43CE-9C25-FD804594F1FC}"/>
              </a:ext>
            </a:extLst>
          </p:cNvPr>
          <p:cNvCxnSpPr/>
          <p:nvPr/>
        </p:nvCxnSpPr>
        <p:spPr>
          <a:xfrm>
            <a:off x="7410079" y="1858525"/>
            <a:ext cx="180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Connecteur droit 173">
            <a:extLst>
              <a:ext uri="{FF2B5EF4-FFF2-40B4-BE49-F238E27FC236}">
                <a16:creationId xmlns:a16="http://schemas.microsoft.com/office/drawing/2014/main" id="{58820DC8-F11B-47B8-AB17-98180E71F638}"/>
              </a:ext>
            </a:extLst>
          </p:cNvPr>
          <p:cNvCxnSpPr>
            <a:cxnSpLocks/>
          </p:cNvCxnSpPr>
          <p:nvPr/>
        </p:nvCxnSpPr>
        <p:spPr>
          <a:xfrm rot="5400000">
            <a:off x="7119614" y="1516488"/>
            <a:ext cx="324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Rectangle 174">
            <a:extLst>
              <a:ext uri="{FF2B5EF4-FFF2-40B4-BE49-F238E27FC236}">
                <a16:creationId xmlns:a16="http://schemas.microsoft.com/office/drawing/2014/main" id="{536A8FE2-8A01-4FCE-9750-9FBEC7BDB114}"/>
              </a:ext>
            </a:extLst>
          </p:cNvPr>
          <p:cNvSpPr/>
          <p:nvPr/>
        </p:nvSpPr>
        <p:spPr>
          <a:xfrm>
            <a:off x="2213140" y="1548883"/>
            <a:ext cx="8640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300" b="1" dirty="0">
                <a:solidFill>
                  <a:srgbClr val="7030A0"/>
                </a:solidFill>
                <a:latin typeface="Century Gothic" panose="020B0502020202020204" pitchFamily="34" charset="0"/>
              </a:rPr>
              <a:t>énergie primaire </a:t>
            </a:r>
          </a:p>
        </p:txBody>
      </p:sp>
      <p:pic>
        <p:nvPicPr>
          <p:cNvPr id="176" name="Image 175">
            <a:extLst>
              <a:ext uri="{FF2B5EF4-FFF2-40B4-BE49-F238E27FC236}">
                <a16:creationId xmlns:a16="http://schemas.microsoft.com/office/drawing/2014/main" id="{111BA7F5-0840-486E-AB9E-2E447CD843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1190" y="269009"/>
            <a:ext cx="3164967" cy="1753362"/>
          </a:xfrm>
          <a:prstGeom prst="rect">
            <a:avLst/>
          </a:prstGeom>
        </p:spPr>
      </p:pic>
      <p:sp>
        <p:nvSpPr>
          <p:cNvPr id="177" name="ZoneTexte 176">
            <a:extLst>
              <a:ext uri="{FF2B5EF4-FFF2-40B4-BE49-F238E27FC236}">
                <a16:creationId xmlns:a16="http://schemas.microsoft.com/office/drawing/2014/main" id="{41677A5E-C183-4CD1-8786-C9EFB2A1A4A5}"/>
              </a:ext>
            </a:extLst>
          </p:cNvPr>
          <p:cNvSpPr txBox="1"/>
          <p:nvPr/>
        </p:nvSpPr>
        <p:spPr>
          <a:xfrm>
            <a:off x="10058400" y="1861969"/>
            <a:ext cx="151401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300" dirty="0">
                <a:solidFill>
                  <a:srgbClr val="C00000"/>
                </a:solidFill>
                <a:latin typeface="Century Gothic" panose="020B0502020202020204" pitchFamily="34" charset="0"/>
              </a:rPr>
              <a:t>chaleur </a:t>
            </a:r>
            <a:r>
              <a:rPr lang="fr-FR" sz="1300" dirty="0">
                <a:latin typeface="Century Gothic" panose="020B0502020202020204" pitchFamily="34" charset="0"/>
              </a:rPr>
              <a:t>prise à l’environnement</a:t>
            </a:r>
            <a:endParaRPr lang="fr-FR" sz="1300" b="1" dirty="0">
              <a:solidFill>
                <a:srgbClr val="CDB27D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78" name="Image 177">
            <a:extLst>
              <a:ext uri="{FF2B5EF4-FFF2-40B4-BE49-F238E27FC236}">
                <a16:creationId xmlns:a16="http://schemas.microsoft.com/office/drawing/2014/main" id="{14183CE4-088F-438E-964E-5F09CA8477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6648" y="1849149"/>
            <a:ext cx="679799" cy="534543"/>
          </a:xfrm>
          <a:prstGeom prst="rect">
            <a:avLst/>
          </a:prstGeom>
        </p:spPr>
      </p:pic>
      <p:sp>
        <p:nvSpPr>
          <p:cNvPr id="179" name="ZoneTexte 178">
            <a:extLst>
              <a:ext uri="{FF2B5EF4-FFF2-40B4-BE49-F238E27FC236}">
                <a16:creationId xmlns:a16="http://schemas.microsoft.com/office/drawing/2014/main" id="{356EBEFD-E638-432E-A777-20CC5986B16D}"/>
              </a:ext>
            </a:extLst>
          </p:cNvPr>
          <p:cNvSpPr txBox="1"/>
          <p:nvPr/>
        </p:nvSpPr>
        <p:spPr>
          <a:xfrm>
            <a:off x="7542941" y="2416954"/>
            <a:ext cx="32298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>
                <a:solidFill>
                  <a:srgbClr val="57AE16"/>
                </a:solidFill>
                <a:latin typeface="Century Gothic" panose="020B0502020202020204" pitchFamily="34" charset="0"/>
              </a:rPr>
              <a:t>énergie utile </a:t>
            </a:r>
            <a:r>
              <a:rPr lang="fr-FR" sz="1200" dirty="0">
                <a:solidFill>
                  <a:srgbClr val="57AE16"/>
                </a:solidFill>
                <a:latin typeface="Century Gothic" panose="020B0502020202020204" pitchFamily="34" charset="0"/>
              </a:rPr>
              <a:t>= chaleur reçue</a:t>
            </a:r>
            <a:endParaRPr lang="fr-FR" sz="1200" dirty="0">
              <a:solidFill>
                <a:srgbClr val="C00000"/>
              </a:solidFill>
              <a:latin typeface="Century Gothic" panose="020B0502020202020204" pitchFamily="34" charset="0"/>
            </a:endParaRPr>
          </a:p>
          <a:p>
            <a:pPr algn="ctr"/>
            <a:r>
              <a:rPr lang="fr-FR" sz="1200" dirty="0">
                <a:solidFill>
                  <a:srgbClr val="00B050"/>
                </a:solidFill>
                <a:latin typeface="Century Gothic" panose="020B0502020202020204" pitchFamily="34" charset="0"/>
              </a:rPr>
              <a:t>~</a:t>
            </a:r>
            <a:r>
              <a:rPr lang="fr-FR" sz="1200" dirty="0">
                <a:solidFill>
                  <a:srgbClr val="C00000"/>
                </a:solidFill>
                <a:latin typeface="Century Gothic" panose="020B0502020202020204" pitchFamily="34" charset="0"/>
              </a:rPr>
              <a:t> chaleur</a:t>
            </a:r>
            <a:r>
              <a:rPr lang="fr-FR" sz="1200" dirty="0">
                <a:latin typeface="Century Gothic" panose="020B0502020202020204" pitchFamily="34" charset="0"/>
              </a:rPr>
              <a:t> transférée + </a:t>
            </a:r>
            <a:r>
              <a:rPr lang="fr-FR" sz="1200" dirty="0">
                <a:solidFill>
                  <a:schemeClr val="accent1"/>
                </a:solidFill>
                <a:latin typeface="Century Gothic" panose="020B0502020202020204" pitchFamily="34" charset="0"/>
              </a:rPr>
              <a:t>électricité</a:t>
            </a:r>
            <a:r>
              <a:rPr lang="fr-FR" sz="1200" dirty="0">
                <a:latin typeface="Century Gothic" panose="020B0502020202020204" pitchFamily="34" charset="0"/>
              </a:rPr>
              <a:t> dissipée </a:t>
            </a:r>
            <a:endParaRPr lang="fr-FR" sz="1200" b="1" dirty="0">
              <a:solidFill>
                <a:srgbClr val="CDB27D"/>
              </a:solidFill>
              <a:latin typeface="Century Gothic" panose="020B0502020202020204" pitchFamily="34" charset="0"/>
            </a:endParaRP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B814C7B8-0AD3-4575-BC5A-9FA078347E2F}"/>
              </a:ext>
            </a:extLst>
          </p:cNvPr>
          <p:cNvSpPr/>
          <p:nvPr/>
        </p:nvSpPr>
        <p:spPr>
          <a:xfrm>
            <a:off x="8872182" y="1463829"/>
            <a:ext cx="11520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100" dirty="0">
                <a:latin typeface="Century Gothic" panose="020B0502020202020204" pitchFamily="34" charset="0"/>
              </a:rPr>
              <a:t>convertisseur : PAC</a:t>
            </a:r>
          </a:p>
        </p:txBody>
      </p:sp>
      <p:sp>
        <p:nvSpPr>
          <p:cNvPr id="181" name="Flèche : gauche 180">
            <a:extLst>
              <a:ext uri="{FF2B5EF4-FFF2-40B4-BE49-F238E27FC236}">
                <a16:creationId xmlns:a16="http://schemas.microsoft.com/office/drawing/2014/main" id="{2CC3F1C0-3290-42E4-99A1-F439E8C690B8}"/>
              </a:ext>
            </a:extLst>
          </p:cNvPr>
          <p:cNvSpPr/>
          <p:nvPr/>
        </p:nvSpPr>
        <p:spPr>
          <a:xfrm>
            <a:off x="8838391" y="1981200"/>
            <a:ext cx="288000" cy="180000"/>
          </a:xfrm>
          <a:prstGeom prst="leftArrow">
            <a:avLst/>
          </a:prstGeom>
          <a:solidFill>
            <a:srgbClr val="57AE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2" name="Flèche : gauche 181">
            <a:extLst>
              <a:ext uri="{FF2B5EF4-FFF2-40B4-BE49-F238E27FC236}">
                <a16:creationId xmlns:a16="http://schemas.microsoft.com/office/drawing/2014/main" id="{F8C28F69-4820-4D89-AF39-03971D954D49}"/>
              </a:ext>
            </a:extLst>
          </p:cNvPr>
          <p:cNvSpPr/>
          <p:nvPr/>
        </p:nvSpPr>
        <p:spPr>
          <a:xfrm>
            <a:off x="9895666" y="1952625"/>
            <a:ext cx="288000" cy="144000"/>
          </a:xfrm>
          <a:prstGeom prst="lef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8" name="Connecteur droit 67">
            <a:extLst>
              <a:ext uri="{FF2B5EF4-FFF2-40B4-BE49-F238E27FC236}">
                <a16:creationId xmlns:a16="http://schemas.microsoft.com/office/drawing/2014/main" id="{BE035570-EA77-4491-B81E-AC7B85391104}"/>
              </a:ext>
            </a:extLst>
          </p:cNvPr>
          <p:cNvCxnSpPr>
            <a:cxnSpLocks/>
          </p:cNvCxnSpPr>
          <p:nvPr/>
        </p:nvCxnSpPr>
        <p:spPr>
          <a:xfrm rot="5400000">
            <a:off x="7279242" y="3807836"/>
            <a:ext cx="756000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eur droit 68">
            <a:extLst>
              <a:ext uri="{FF2B5EF4-FFF2-40B4-BE49-F238E27FC236}">
                <a16:creationId xmlns:a16="http://schemas.microsoft.com/office/drawing/2014/main" id="{F9012312-25A6-45B5-BDDD-F3E1C84C03EF}"/>
              </a:ext>
            </a:extLst>
          </p:cNvPr>
          <p:cNvCxnSpPr>
            <a:cxnSpLocks/>
          </p:cNvCxnSpPr>
          <p:nvPr/>
        </p:nvCxnSpPr>
        <p:spPr>
          <a:xfrm rot="5400000">
            <a:off x="9612867" y="3779261"/>
            <a:ext cx="756000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69">
            <a:extLst>
              <a:ext uri="{FF2B5EF4-FFF2-40B4-BE49-F238E27FC236}">
                <a16:creationId xmlns:a16="http://schemas.microsoft.com/office/drawing/2014/main" id="{5097D47D-490D-4B98-B876-AA6B4AE3C91D}"/>
              </a:ext>
            </a:extLst>
          </p:cNvPr>
          <p:cNvCxnSpPr>
            <a:cxnSpLocks/>
          </p:cNvCxnSpPr>
          <p:nvPr/>
        </p:nvCxnSpPr>
        <p:spPr>
          <a:xfrm flipH="1">
            <a:off x="7529679" y="3215069"/>
            <a:ext cx="1359605" cy="184438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eur droit 70">
            <a:extLst>
              <a:ext uri="{FF2B5EF4-FFF2-40B4-BE49-F238E27FC236}">
                <a16:creationId xmlns:a16="http://schemas.microsoft.com/office/drawing/2014/main" id="{250A629F-1553-4094-9955-AFE32B6425AB}"/>
              </a:ext>
            </a:extLst>
          </p:cNvPr>
          <p:cNvCxnSpPr>
            <a:cxnSpLocks/>
          </p:cNvCxnSpPr>
          <p:nvPr/>
        </p:nvCxnSpPr>
        <p:spPr>
          <a:xfrm flipH="1" flipV="1">
            <a:off x="8882230" y="3218532"/>
            <a:ext cx="1224000" cy="18000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ZoneTexte 71">
            <a:extLst>
              <a:ext uri="{FF2B5EF4-FFF2-40B4-BE49-F238E27FC236}">
                <a16:creationId xmlns:a16="http://schemas.microsoft.com/office/drawing/2014/main" id="{92B18A47-3D5D-49E1-88DE-C60C2B3CC360}"/>
              </a:ext>
            </a:extLst>
          </p:cNvPr>
          <p:cNvSpPr txBox="1"/>
          <p:nvPr/>
        </p:nvSpPr>
        <p:spPr>
          <a:xfrm>
            <a:off x="1194323" y="3416169"/>
            <a:ext cx="12240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3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Q disponible</a:t>
            </a:r>
            <a:endParaRPr lang="fr-FR" sz="1300" b="1" baseline="-25000" dirty="0">
              <a:solidFill>
                <a:srgbClr val="C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E61AB4C5-249B-4610-BF10-FC5D362BBA85}"/>
              </a:ext>
            </a:extLst>
          </p:cNvPr>
          <p:cNvSpPr txBox="1"/>
          <p:nvPr/>
        </p:nvSpPr>
        <p:spPr>
          <a:xfrm>
            <a:off x="1384823" y="3747641"/>
            <a:ext cx="900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300" b="1" dirty="0">
                <a:solidFill>
                  <a:srgbClr val="7030A0"/>
                </a:solidFill>
                <a:latin typeface="Century Gothic" panose="020B0502020202020204" pitchFamily="34" charset="0"/>
              </a:rPr>
              <a:t>énergie primaire 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CDCD8A8-9F6D-49F2-BFCB-2A6AC5140692}"/>
              </a:ext>
            </a:extLst>
          </p:cNvPr>
          <p:cNvSpPr>
            <a:spLocks/>
          </p:cNvSpPr>
          <p:nvPr/>
        </p:nvSpPr>
        <p:spPr>
          <a:xfrm>
            <a:off x="571783" y="3488182"/>
            <a:ext cx="684000" cy="468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5" name="ZoneTexte 74">
            <a:extLst>
              <a:ext uri="{FF2B5EF4-FFF2-40B4-BE49-F238E27FC236}">
                <a16:creationId xmlns:a16="http://schemas.microsoft.com/office/drawing/2014/main" id="{C90679B0-3EEF-4141-8A20-CF2324ADD062}"/>
              </a:ext>
            </a:extLst>
          </p:cNvPr>
          <p:cNvSpPr txBox="1"/>
          <p:nvPr/>
        </p:nvSpPr>
        <p:spPr>
          <a:xfrm>
            <a:off x="405196" y="3961728"/>
            <a:ext cx="936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300" dirty="0">
                <a:latin typeface="Century Gothic" panose="020B0502020202020204" pitchFamily="34" charset="0"/>
              </a:rPr>
              <a:t>énergie chimique</a:t>
            </a:r>
          </a:p>
        </p:txBody>
      </p:sp>
      <p:sp>
        <p:nvSpPr>
          <p:cNvPr id="76" name="ZoneTexte 75">
            <a:extLst>
              <a:ext uri="{FF2B5EF4-FFF2-40B4-BE49-F238E27FC236}">
                <a16:creationId xmlns:a16="http://schemas.microsoft.com/office/drawing/2014/main" id="{5909B764-B8D1-47C0-8781-6B71D695FFF3}"/>
              </a:ext>
            </a:extLst>
          </p:cNvPr>
          <p:cNvSpPr txBox="1"/>
          <p:nvPr/>
        </p:nvSpPr>
        <p:spPr>
          <a:xfrm>
            <a:off x="623142" y="3534045"/>
            <a:ext cx="57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latin typeface="Century Gothic" panose="020B0502020202020204" pitchFamily="34" charset="0"/>
              </a:rPr>
              <a:t>Bois</a:t>
            </a:r>
          </a:p>
        </p:txBody>
      </p:sp>
    </p:spTree>
    <p:extLst>
      <p:ext uri="{BB962C8B-B14F-4D97-AF65-F5344CB8AC3E}">
        <p14:creationId xmlns:p14="http://schemas.microsoft.com/office/powerpoint/2010/main" val="301318594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166575</TotalTime>
  <Words>183</Words>
  <Application>Microsoft Office PowerPoint</Application>
  <PresentationFormat>Grand écran</PresentationFormat>
  <Paragraphs>87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Century Gothic</vt:lpstr>
      <vt:lpstr>Thème Office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Guillaume Ferlat</dc:creator>
  <cp:lastModifiedBy>Guillaume Ferlat</cp:lastModifiedBy>
  <cp:revision>2546</cp:revision>
  <dcterms:created xsi:type="dcterms:W3CDTF">2023-05-24T13:55:51Z</dcterms:created>
  <dcterms:modified xsi:type="dcterms:W3CDTF">2026-01-25T11:52:27Z</dcterms:modified>
</cp:coreProperties>
</file>